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Resultados" id="{b8a66fdc-730c-7b6b-fbff-64e11c66788a}">
          <p14:sldIdLst>
            <p14:sldId id="256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WT2</c:v>
                </c:pt>
              </c:strCache>
            </c:strRef>
          </c:tx>
          <c:spPr>
            <a:solidFill>
              <a:srgbClr val="2A78D6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errBars>
            <c:errDir val="y"/>
            <c:errBarType val="plus"/>
            <c:errValType val="cust"/>
            <c:noEndCap val="0"/>
            <c:plus>
              <c:numLit>
                <c:formatCode>General</c:formatCode>
                <c:ptCount val="4"/>
                <c:pt idx="0">
                  <c:v>10.0</c:v>
                </c:pt>
                <c:pt idx="1">
                  <c:v>9.8</c:v>
                </c:pt>
                <c:pt idx="2">
                  <c:v>1.6</c:v>
                </c:pt>
                <c:pt idx="3">
                  <c:v>1.4</c:v>
                </c:pt>
              </c:numLit>
            </c:plus>
            <c:minus>
              <c:numLit>
                <c:formatCode>General</c:formatCode>
                <c:ptCount val="4"/>
                <c:pt idx="0">
                  <c:v>10.0</c:v>
                </c:pt>
                <c:pt idx="1">
                  <c:v>9.8</c:v>
                </c:pt>
                <c:pt idx="2">
                  <c:v>1.6</c:v>
                </c:pt>
                <c:pt idx="3">
                  <c:v>1.4</c:v>
                </c:pt>
              </c:numLit>
            </c:minus>
            <c:spPr>
              <a:ln w="15875">
                <a:solidFill>
                  <a:srgbClr val="333333"/>
                </a:solidFill>
              </a:ln>
            </c:spPr>
          </c:errBars>
          <c:cat>
            <c:multiLvlStrRef>
              <c:f>Sheet1!$A$2:$A$5</c:f>
              <c:multiLvlStrCache>
                <c:ptCount val="4"/>
                <c:lvl>
                  <c:pt idx="0">
                    <c:v>0,5 nM</c:v>
                  </c:pt>
                  <c:pt idx="1">
                    <c:v>1 nM</c:v>
                  </c:pt>
                  <c:pt idx="2">
                    <c:v>5 nM</c:v>
                  </c:pt>
                  <c:pt idx="3">
                    <c:v>10 nM</c:v>
                  </c:pt>
                </c:lvl>
              </c:multiLvlStrCache>
            </c:multiLvl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115.2</c:v>
                </c:pt>
                <c:pt idx="1">
                  <c:v>97.5</c:v>
                </c:pt>
                <c:pt idx="2">
                  <c:v>60.7</c:v>
                </c:pt>
                <c:pt idx="3">
                  <c:v>46.1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MUT1</c:v>
                </c:pt>
              </c:strCache>
            </c:strRef>
          </c:tx>
          <c:spPr>
            <a:solidFill>
              <a:srgbClr val="EB6834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400" u="none">
                    <a:solidFill>
                      <a:srgbClr val="FFFFFF"/>
                    </a:solidFill>
                    <a:latin typeface="+mn-lt"/>
                  </a:defRPr>
                </a:pPr>
              </a:p>
            </c:txPr>
            <c:dLblPos val="in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errBars>
            <c:errDir val="y"/>
            <c:errBarType val="plus"/>
            <c:errValType val="cust"/>
            <c:noEndCap val="0"/>
            <c:plus>
              <c:numLit>
                <c:formatCode>General</c:formatCode>
                <c:ptCount val="4"/>
                <c:pt idx="0">
                  <c:v>16.3</c:v>
                </c:pt>
                <c:pt idx="1">
                  <c:v>14.0</c:v>
                </c:pt>
                <c:pt idx="2">
                  <c:v>1.9</c:v>
                </c:pt>
                <c:pt idx="3">
                  <c:v>2.0</c:v>
                </c:pt>
              </c:numLit>
            </c:plus>
            <c:minus>
              <c:numLit>
                <c:formatCode>General</c:formatCode>
                <c:ptCount val="4"/>
                <c:pt idx="0">
                  <c:v>16.3</c:v>
                </c:pt>
                <c:pt idx="1">
                  <c:v>14.0</c:v>
                </c:pt>
                <c:pt idx="2">
                  <c:v>1.9</c:v>
                </c:pt>
                <c:pt idx="3">
                  <c:v>2.0</c:v>
                </c:pt>
              </c:numLit>
            </c:minus>
            <c:spPr>
              <a:ln w="15875">
                <a:solidFill>
                  <a:srgbClr val="333333"/>
                </a:solidFill>
              </a:ln>
            </c:spPr>
          </c:errBars>
          <c:cat>
            <c:multiLvlStrRef>
              <c:f>Sheet1!$A$2:$A$5</c:f>
              <c:multiLvlStrCache>
                <c:ptCount val="4"/>
                <c:lvl>
                  <c:pt idx="0">
                    <c:v>0,5 nM</c:v>
                  </c:pt>
                  <c:pt idx="1">
                    <c:v>1 nM</c:v>
                  </c:pt>
                  <c:pt idx="2">
                    <c:v>5 nM</c:v>
                  </c:pt>
                  <c:pt idx="3">
                    <c:v>10 nM</c:v>
                  </c:pt>
                </c:lvl>
              </c:multiLvlStrCache>
            </c:multiLvlStrRef>
          </c:cat>
          <c:val>
            <c:numRef>
              <c:f>Sheet1!$C$2:$C$5</c:f>
              <c:numCache>
                <c:formatCode>General</c:formatCode>
                <c:ptCount val="4"/>
                <c:pt idx="0">
                  <c:v>65.4</c:v>
                </c:pt>
                <c:pt idx="1">
                  <c:v>53.8</c:v>
                </c:pt>
                <c:pt idx="2">
                  <c:v>27.9</c:v>
                </c:pt>
                <c:pt idx="3">
                  <c:v>28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400" u="none">
                  <a:solidFill>
                    <a:srgbClr val="FFFFFF"/>
                  </a:solidFill>
                  <a:latin typeface="+mn-l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60"/>
        <c:overlap val="-1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600" b="0" i="0" u="none" strike="noStrike">
                <a:solidFill>
                  <a:srgbClr val="2B2B2B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40"/>
          <c:min val="0"/>
        </c:scaling>
        <c:delete val="0"/>
        <c:axPos val="l"/>
        <c:majorGridlines>
          <c:spPr>
            <a:ln w="9525" cap="flat">
              <a:solidFill>
                <a:srgbClr val="E5E5E5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400" b="0" i="0" u="none" strike="noStrike">
                    <a:solidFill>
                      <a:srgbClr val="2B2B2B"/>
                    </a:solidFill>
                    <a:latin typeface="+mn-lt"/>
                  </a:defRPr>
                </a:pPr>
                <a:r>
                  <a:rPr sz="1400" b="0" i="0" u="none" strike="noStrike">
                    <a:solidFill>
                      <a:srgbClr val="2B2B2B"/>
                    </a:solidFill>
                    <a:latin typeface="+mn-lt"/>
                  </a:rPr>
                  <a:t>ARNm KRT10 (% vs control negativo)</a:t>
                </a:r>
              </a:p>
            </c:rich>
          </c:tx>
          <c:layout/>
          <c:overlay val="0"/>
        </c:title>
        <c:numFmt formatCode="0&quot;%&quot;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55555"/>
                </a:solidFill>
                <a:latin typeface="+mn-lt"/>
              </a:defRPr>
            </a:pPr>
            <a:endParaRPr lang="en-US"/>
          </a:p>
        </c:txPr>
        <c:crossAx val="2094734554"/>
        <c:crosses val="autoZero"/>
        <c:crossBetween val="between"/>
        <c:majorUnit val="20"/>
      </c:valAx>
      <c:spPr>
        <a:noFill/>
        <a:ln>
          <a:noFill/>
        </a:ln>
        <a:effectLst/>
      </c:spPr>
    </c:plotArea>
    <c:legend>
      <c:legendPos val="t"/>
      <c:overlay val="0"/>
      <c:txPr>
        <a:bodyPr/>
        <a:lstStyle/>
        <a:p>
          <a:pPr>
            <a:defRPr sz="1400">
              <a:solidFill>
                <a:srgbClr val="2B2B2B"/>
              </a:solidFill>
              <a:latin typeface="+mn-lt"/>
              <a:cs typeface="+mn-lt"/>
      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Media ± SD de réplicas biológicas, corregido por RNA y normalizado frente al control negativo de cada genotipo. MUT1 1 nM sin el pocillo A06 (atípico). 0,5–1 nM y 5–10 nM proceden de experimentos distintos.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Grafica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3200" b="1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Título</a:t>
            </a:r>
            <a:endParaRPr lang="en-US" sz="3200" dirty="0"/>
          </a:p>
        </p:txBody>
      </p:sp>
      <p:sp>
        <p:nvSpPr>
          <p:cNvPr id="3" name="Text 0"/>
          <p:cNvSpPr/>
          <p:nvPr>
            <p:ph idx="101" type="chart" hasCustomPrompt="1"/>
          </p:nvPr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dirty="0">
                <a:solidFill>
                  <a:schemeClr val="tx1"/>
                </a:solidFill>
              </a:defRPr>
            </a:lvl1pPr>
          </a:lstStyle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0" type="title" hasCustomPrompt="1"/>
          </p:nvPr>
        </p:nvSpPr>
        <p:spPr>
          <a:xfrm>
            <a:off x="548640" y="320040"/>
            <a:ext cx="11064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chemeClr val="tx1"/>
                </a:solidFill>
              </a:rPr>
              <a:t>Silenciamiento de KRT10 con siRNA #13</a:t>
            </a:r>
            <a:endParaRPr lang="en-US" sz="3200" dirty="0"/>
          </a:p>
        </p:txBody>
      </p:sp>
      <p:graphicFrame>
        <p:nvGraphicFramePr>
          <p:cNvPr id="3" name="Grafica siRNA 13" descr=""/>
          <p:cNvGraphicFramePr/>
          <p:nvPr/>
        </p:nvGraphicFramePr>
        <p:xfrm>
          <a:off x="548640" y="1280160"/>
          <a:ext cx="11064240" cy="5212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0"/>
          <p:cNvSpPr/>
          <p:nvPr>
            <p:ph idx="101" type="chart" hasCustomPrompt="1"/>
          </p:nvPr>
        </p:nvSpPr>
        <p:spPr>
          <a:xfrm>
            <a:off x="548640" y="1280160"/>
            <a:ext cx="11064240" cy="5212080"/>
          </a:xfrm>
          <a:prstGeom prst="rect">
            <a:avLst/>
          </a:prstGeom>
          <a:noFill/>
          <a:ln/>
        </p:spPr>
        <p:txBody>
          <a:bodyPr wrap="square" rtlCol="0"/>
          <a:lstStyle/>
          <a:p>
            <a:pPr indent="0" marL="0">
              <a:buNone/>
            </a:pPr>
            <a:endParaRPr lang="en-US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sis KRT10">
  <a:themeElements>
    <a:clrScheme name="Tesis KRT10">
      <a:dk1>
        <a:srgbClr val="1F1F1F"/>
      </a:dk1>
      <a:lt1>
        <a:srgbClr val="FFFFFF"/>
      </a:lt1>
      <a:dk2>
        <a:srgbClr val="2B2B2B"/>
      </a:dk2>
      <a:lt2>
        <a:srgbClr val="F2F2F2"/>
      </a:lt2>
      <a:accent1>
        <a:srgbClr val="2A78D6"/>
      </a:accent1>
      <a:accent2>
        <a:srgbClr val="EB6834"/>
      </a:accent2>
      <a:accent3>
        <a:srgbClr val="1BAF7A"/>
      </a:accent3>
      <a:accent4>
        <a:srgbClr val="EDA100"/>
      </a:accent4>
      <a:accent5>
        <a:srgbClr val="E87BA4"/>
      </a:accent5>
      <a:accent6>
        <a:srgbClr val="008300"/>
      </a:accent6>
      <a:hlink>
        <a:srgbClr val="2A78D6"/>
      </a:hlink>
      <a:folHlink>
        <a:srgbClr val="6D2E46"/>
      </a:folHlink>
    </a:clrScheme>
    <a:fontScheme name="Tesis KRT10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Silenciamiento siRNA #13</dc:title>
  <dc:subject>PptxGenJS Presentation</dc:subject>
  <dc:creator>PptxGenJS</dc:creator>
  <cp:lastModifiedBy>PptxGenJS</cp:lastModifiedBy>
  <cp:revision>1</cp:revision>
  <dcterms:created xsi:type="dcterms:W3CDTF">2026-10-08T08:52:20Z</dcterms:created>
  <dcterms:modified xsi:type="dcterms:W3CDTF">2026-10-08T08:52:20Z</dcterms:modified>
</cp:coreProperties>
</file>