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Buenos días y muchas gracias por invitarme. Soy María Zubieta, investigadora en el IBSAL y la Universidad de Salamanca, con financiación de la Fundación Nemesio Diez.
Tenemos veinte minutos, así que voy a ir al grano y a contaros tres cosas: qué le pasa a vuestra piel por dentro, qué hemos montado en el laboratorio para poder estudiarlo, y en qué punto está de verdad el proyecto de terapia génica.
No hace falta saber biología. Si algo no se entiende, paradme en el momento; y al final dejo tiempo para preguntas.
[El andamio de la imagen es la metáfora de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La ictiosis epidermolítica es una enfermedad rara, genética y de por vida: afecta a algo así como 1 de cada 200.000 o 300.000 nacimientos.
El guion suele ser el mismo. Al nacer, piel muy roja y ampollas que se levantan con nada, que es la etapa más dura y más delicada por infecciones y pérdida de líquidos. Con los años las ampollas van a menos y lo que domina es la piel gruesa y con escamas, sobre todo en pliegues. Y de fondo siempre: picor, olor, dificultad para sudar.
La palabra "epidermolítica" viene de que, al microscopio, las células de la epidermis están rotas por dentro. No es que la piel fabrique escamas porque sí: fabrica escamas porque se está rompiendo y se repara sin parar.
¿Y por qué se rompe? Porque falla una de dos proteínas concretas: la queratina 1 o la queratina 10. Todo lo demás sale de ahí.
[Si preguntan por genética: un gen es el manual de instrucciones de una proteína, y una mutación es una errata en ese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Abrimos la piel. La epidermis se renueva entera cada tres o cuatro semanas: las células nacen abajo, van subiendo y al llegar arriba se convierten en escamas que se desprenden. Es un edificio en obras permanentes.
Y lo importante: las células no fabrican las mismas queratinas toda su vida, las van cambiando según en qué planta están.
Abajo del todo, en la capa basal, se fabrican la queratina 5 y la 14. Si fallan esas, la enfermedad es la epidermólisis ampollosa simple.
En cuanto la célula sube, apaga esas y enciende la queratina 1 y la 10. Si fallan estas, la enfermedad es la ictiosis epidermolítica. Estas son las nuestras.
Y arriba, cerca de la superficie, entra la queratina 2: si falla, sale la ictiosis epidermolítica superficial, más leve, porque la rotura ocurre casi en la superficie.
Esto explica algo que confunde mucho en consulta: son enfermedades primas hermanas, con el mismo mecanismo de fondo, y el nombre y la gravedad cambian según a qué altura del edificio está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Un detalle técnico, pero es la clave de todo. Un minuto de atención aquí.
Las queratinas no trabajan solas: van siempre de dos en dos, y siempre una de tipo I con una de tipo II. La queratina 10 es de tipo I y la queratina 1 es de tipo II. Son socias obligatorias.
Primero se enroscan las dos como dos hebras de una cuerda; luego esas parejas se unen unas con otras formando fibras muy largas; y esas fibras forman una malla que recorre toda la célula. Eso es el andamio.
Y por eso nos hemos centrado en estas dos proteínas: son la causa de prácticamente todos los casos de ictiosis epidermolítica, actúan solo en la piel (así que tratarlas no toca ningún otro órgano), y la piel es el órgano más accesible del cuerpo.
Quedaos con una idea que usaremos enseguida: si una de las dos socias está estropeada, no falla solo esa pieza. Falla la sección entera del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Aquí está el corazón de la enfermedad, y es sorprendentemente sencillo.
A la izquierda, lo normal: las parejas se unen en fibras largas y rectas, y la célula aguanta el roce del día a día.
A la derecha, lo que pasa con una errata. El cambio suele caer justo en los extremos de la queratina, que son los puntos por donde una pareja se engancha con la siguiente. Así que la fibra se queda a medias: se rompe y los trozos se apelotonan en grumos dentro de la célula. Una célula sin andamio se revienta con un roce mínimo. Eso es la ampolla.
Y aquí va la respuesta a una pregunta que muchos os habréis hecho: si el problema es que la piel se rompe, ¿por qué está gruesa y no fina? Porque la piel responde a la rotura como a cualquier agresión: fabricando más piel. Es lo mismo que un callo en la mano. La piel gruesa no es el problema, es la respuesta al problema.
Por eso las cremas queratolíticas alivian muchísimo, pero no pueden curar: quitan la escama, no llegan a la causa, que está dentro de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Todos tenemos dos copias de cada gen, una de cada progenitor. En la mayoría de las enfermedades genéticas hacen falta las dos estropeadas para estar enfermo. Aquí no: basta con una. Eso quiere decir "dominante".
¿Por qué? Por lo que acabamos de ver. La queratina defectuosa se fabrica igual, se mete en las parejas y se mete en las fibras, y estropea cada fibra en la que entra. La pieza mala sabotea el trabajo de las buenas.
Dos consecuencias prácticas, que son las preguntas que más salen:
Una, una persona afectada tiene un 50 % de probabilidad de transmitirlo en cada embarazo. Es una moneda al aire en cada hijo.
Y dos, muchísimos casos aparecen en familias sin ningún antecedente: son mutaciones nuevas, que ocurren en el momento de la concepción. Nadie ha hecho nada mal y no se podía haber evitado. Lo digo porque hay familias que arrastran una culpa que no les corresponde.
Y hay una tercera consecuencia, esta buena: si el problema es que sobra una copia mala, una estrategia evidente es apagarla. A eso vamos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Cambio de tercio: qué hacemos nosotros. Y empiezo por la idea más importante de esta parte: no se puede ensayar un tratamiento directamente en un paciente. Hay que probarlo antes muchísimas veces, y para eso hace falta tener la enfermedad a mano en el laboratorio. Eso es un modelo, y construirlos es la mitad del trabajo de un proyecto como este.
Arriba, las células. Con CRISPR-Cas9, la tijera molecular, hemos fabricado células de piel control, células a las que hemos quitado la queratina entera, y sobre todo células que llevan exactamente la misma mutación que el paciente. Las tenemos para la queratina 10 y también para la queratina 1.
Abajo, el paso importante. Unas células en una placa son planas, y la piel no es plana: lo que falla en esta enfermedad depende justo de que las células suban y cambien de queratinas por el camino. Así que las dejamos crecer sobre un soporte con colágeno, y cuando han formado una capa continua bajamos el nivel del líquido hasta dejarlas en contacto con el aire. Ese contacto con el aire es la señal que necesitan: empiezan a subir, a diferenciarse y a formar todas las capas.
Al cabo de unas semanas tenemos, literalmente, un trocito de piel humana crecido en el laboratorio. Y con la mutación del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Esto son cortes de esas pieles al microscopio, con la tinción de siempre. De abajo arriba veis las capas, y arriba del todo la capa córnea, esa franja más clara que es la barrera.
Arriba, la piel control: las capas bien ordenadas, cada cosa en su sitio.
En medio, una piel a la que le hemos añadido queratina 10 normal de más. Esto era un control de seguridad importante para nosotros: queríamos saber si añadir copias sanas del gen podía estropear la diferenciación. Y no: la piel se forma igual de bien. Es un dato relevante, porque nuestra estrategia incluye precisamente aportar copias sanas.
Abajo, la piel con la queratina 10 mutada, donde se aprecia el problema.
Lo que quiero que os llevéis es simple: podemos fabricar piel con la enfermedad, mirarla y compararla. Y eso es lo que nos permitirá decir si un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parte donde el laboratorio y vuestra vida se tocan.
Vosotros sabéis lo que es la fragilidad: un roce con el zapato, una costura, el calor, y aparece la ampolla. Es algo que sentís, pero difícil de medir con un número. Y en ciencia, si no lo puedes medir, no puedes demostrar que un tratamiento lo mejora.
El ensayo de dispasa le pone número. Dejamos crecer las células hasta que forman una capa continua. Añadimos una enzima, la dispasa, que despega esa capa entera sin romperla; nos queda una pielecita flotando. La agitamos siempre con la misma fuerza y el mismo tiempo, que es lo que hace que la medida sea justa. Y contamos en cuántos trozos se ha roto.
Las células normales aguantan y se rompen en pocos trozos grandes. Las que llevan la mutación se deshacen en muchos trozos pequeños.
Eso es vuestra fragilidad, reproducida en una placa y convertida en un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Ya hemos dicho que la K1 y la K10 van en pareja. Pero saber que van en pareja no es lo mismo que saber cómo se juntan exactamente, ni qué pasa con esa unión cuando una de las dos está mutada. Y eso cambia la estrategia de tratamiento: si la queratina mutada sigue emparejándose igual de bien, es que está secuestrando socias sanas y hay que quitarla de en medio sí o sí.
A la izquierda, verlas. Usamos anticuerpos, las mismas moléculas que fabrica nuestro sistema inmunitario, fabricados a medida para pegarse solo a la K1 o solo a la K10, con un colorante fluorescente enganchado. Al microscopio vemos dónde está cada una: si la red está entera o rota, si aparecen los grumos, y si las dos están juntas.
A la derecha, medirlo. Esto se llama NanoBiT y es muy ingenioso: hay proteínas que emiten luz, como las de las luciérnagas, y se pueden partir en dos mitades. Cada mitad sola no hace nada; si se juntan, emiten luz. Le pegamos una mitad a cada queratina. Si hay luz, se están tocando, y cuanta más luz, más contacto. Lo bonito es que esto es un número, no una foto que hay que interpretar.
[Mete aquí tus imágenes de inmunofluorescencia y tus gráficas de NanoBiT. Para este público, en la gráfica yo dejaría dos o tres barras y la conclusión en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Los ratones. Primero, por qué hacen falta: una piel en 3D es magnífica, pero no tiene sistema inmunitario, ni circulación, ni pelo, ni envejece. Y muchas de las cosas que os afectan en el día a día, como la inflamación, el picor o las infecciones, dependen justo de eso.
Y cómo lo hacemos: todo está regulado por ley, aprobado por comités de ética, y se rige por las tres erres: reemplazar al animal siempre que se pueda, reducir el número al mínimo y refinar los procedimientos. De hecho, todos los modelos celulares y en 3D que os he enseñado existen precisamente para usar el menor número posible de animales.
Tenemos tres. Uno sin queratina 10, que nos dice qué pasa cuando esa proteína falta. Otro con una copia sana y una copia con la mutación del paciente: ese es el que de verdad reproduce vuestra situación y es el que usaremos para probar el tratamiento. Y otro con las dos copias mutadas, que no existe en pacientes pero nos enseña hasta dónde llega el daño.
Su piel, al microscopio, tiene la epidermis claramente más gruesa y peor organizada. Es decir: el ratón reproduce lo que le pasa a la piel humana.
Guardad un dato: con la queratina 10, el ratón con las dos copias mutadas nace y vive. Ahora veréis por qué lo 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una de nuestras conclusiones más importantes, y justifica que estudiemos las dos por separado.
La queratina 10 tiene primas hermanas que pueden echarle una mano: cuando falla, la piel compensa en parte con otras queratinas de tipo I. Por eso el ratón con las dos copias mutadas nace y vive, aunque con la piel muy afectada.
La queratina 1 no tiene ese respaldo: es prácticamente insustituible. Y la consecuencia es dramática: cuando falta del todo, el ratón no es viable, muere poco después de nacer, porque su barrera no funciona y pierde agua de forma masiva.
¿Qué significa esto para vosotros? Dos cosas.
Primera, que la gravedad y el tipo de síntomas no dependen solo de tener ictiosis epidermolítica, sino de cuál de las dos queratinas está afectada. Por eso dos personas con el mismo diagnóstico pueden tener cuadros muy distintos.
Y segunda, que el tratamiento tendrá que adaptarse. En la queratina 10 hay algo más de margen para apagar la copia mala. En la queratina 1, apagarla sin más sería peligroso: hay que reponer proteína sana al mismo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Y con la queratina 1 hay algo más, que explica una cosa que muchos describís.
Se ha visto que la queratina 1, además de sujetar la célula, ayuda a mantener controlada una molécula que se llama IL-18. La IL-18 es una señal de alarma del sistema inmunitario: cuando se libera, desencadena inflamación.
Cuando la queratina 1 falla, esa alarma se dispara y la piel entra en un estado inflamatorio permanente. Traducido al día a día: en las personas con la queratina 1 alterada, la piel suele estar más roja, picar más, irritarse con más facilidad y tener más tendencia a infectarse. No es solo una piel que se rompe, es una piel que además está inflamada.
Quiero ser precisa: esto está descrito en la bibliografía por otros grupos, no son datos nuestros. Pero encaja con lo que vemos.
Y abre una puerta interesante: si parte del sufrimiento viene de la inflamación, se podría aliviar con antiinflamatorios dirigidos, algunos de los cuales ya existen para otras enfermedades. No cura la causa, pero podría mejorar mucho la calidad de vida mientras la terapia génica sigue su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 llegamos a la estrategia. Son dos pasos, y los dos hacen falta.
Paso uno: apagar la copia mala. El problema es que sobra una proteína que estorba; si conseguimos que esa copia concreta no se fabrique, el sabotaje desaparece. Lo hacemos con siRNA, que son trocitos muy pequeños de material genético que funcionan como un buscador con una frase exacta: reconocen un mensaje concreto y ordenan su destrucción. Y aquí está la parte fina: como la copia mutada se diferencia de la sana en una sola letra, hay que diseñarlo con una precisión enorme para que ataque solo a la mala. Eso ya lo hemos hecho: probamos 19 candidatos y nos quedamos con los que distinguían bien.
Paso dos: reponer copia sana. Al apagar la mala nos quedamos con la mitad de proteína, y en algunos casos, sobre todo con la queratina 1, eso no basta. Así que en el mismo paquete metemos también una copia buena del gen, modificada para que el siRNA no la destruya por error.
El resultado que buscamos: desaparece la proteína que estropea, se repone la que falta, y las fibras vuelven a formarse bien.
Y algo importante y tranquilizador: esto no modifica vuestro ADN. No cortamos ni cambiamos ningún gen. Actuamos sobre las fotocopias, no sobre el manual original. Es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Nos falta el sobre para enviar el mensaje, y son dos piezas.
La primera, el ADN. Tradicionalmente se usa un plásmido, un anillo de ADN que se fabrica en bacterias, pero arrastra mucho equipaje bacteriano que no necesitamos: genes de resistencia a antibióticos, secuencias de la bacteria... Eso ocupa espacio y, sobre todo, la célula humana lo reconoce como extraño y tiende a apagarlo, así que el efecto dura poco. El minicírculo es el mismo anillo sin ese equipaje: solo queda lo nuestro. Es más pequeño, así que entra mejor; no lleva genes de resistencia a antibióticos, que es un requisito de seguridad para llegar algún día a la clínica; y dura bastante más tiempo activo. Esto es justo en lo que estamos trabajando ahora mismo.
La segunda pieza, el transporte. Muchas terapias génicas usan virus modificados, pero el sistema inmunitario los reconoce y solo se pueden dar unas pocas veces. Nosotros hemos apostado por nanopartículas lipídicas: gotitas microscópicas de grasa que envuelven el ADN y lo ayudan a entrar en la célula. Es, en esencia, la misma tecnología de las vacunas de ARN mensajero, ya probada en millones de personas. Esta parte la hacemos con grupos especializados de Valencia y Madrid.
Y el objetivo a largo plazo es el de la derecha: que esto acabe siendo algo que se aplique sobre la piel. Todavía no existe, es el objetivo; pero es razonable, porque la piel se puede tratar por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Quiero ser muy transparente aquí, porque creo que os lo debemos.
Lo que ya está hecho: los siRNA que distinguen la copia mutada de la sana, los modelos celulares de las dos queratinas, las pieles en 3D y los ratones. No es poco: es la infraestructura que hace posible todo lo demás, y ha costado años.
Lo que está en marcha ahora: producir los minicírculos, trabajar con nuestros colaboradores en las nanopartículas, y probar el tratamiento sobre las pieles en 3D.
Lo que falta: demostrar que funciona en el ratón, los estudios de seguridad, y el camino regulatorio, que en una enfermedad rara es largo.
No os voy a dar una fecha, porque cualquier fecha que os diera sería inventada, y ya habéis oído bastantes promesas. Lo que sí os digo es que el camino está trazado, que cada pieza que colocamos ya no hay que volver a hacerla, y que hay más gente trabajando en esto que hace cinco años. En enfermedades raras, eso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Si de toda la charla os quedáis con cuatro cosas, que sean estas.
Una. A vuestra piel le falta un andamio. Una sola letra cambiada en el gen de la queratina 1 o la 10 hace que las fibras que sujetan las células no se formen bien. Las ampollas, la piel gruesa, el picor y las infecciones vienen de ahí.
Dos. La piel gruesa no es el problema, es la respuesta al problema. Por eso las cremas ayudan mucho a estar mejor, pero no pueden curar.
Tres. La queratina 1 y la 10 no se comportan igual. Hay que estudiarlas por separado, y el tratamiento tendrá que adaptarse.
Y cuatro. Hay una estrategia concreta encima de la mesa: apagar la copia estropeada, reponer una sana y aplicarlo sobre la piel. No está terminada, pero no es una idea vaga: es un proyecto con modelos, con resultados y con un camino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Muchas gracias por vuestra atención.
Gracias también a ASIC por la invitación, a la Fundación Nemesio Diez por la financiación, y al equipo: los dermatólogos que ven a los pacientes y nos traen las preguntas reales, la gente del animalario, los grupos de nanopartículas de Valencia y Madrid y mis compañeros de laboratorio.
Y sobre todo, gracias a vosotros. La investigación en enfermedades raras existe porque hay asociaciones que empujan, que financian y que nos recuerdan para quién trabajamos.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3.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777240"/>
            <a:ext cx="4892040" cy="5303520"/>
          </a:xfrm>
          <a:prstGeom prst="roundRect">
            <a:avLst>
              <a:gd name="adj" fmla="val 4112"/>
            </a:avLst>
          </a:prstGeom>
          <a:solidFill>
            <a:srgbClr val="EDF5F5"/>
          </a:solidFill>
          <a:ln w="19050">
            <a:solidFill>
              <a:srgbClr val="BEDADE"/>
            </a:solidFill>
            <a:prstDash val="solid"/>
          </a:ln>
        </p:spPr>
      </p:sp>
      <p:pic>
        <p:nvPicPr>
          <p:cNvPr id="3" name="Image 0" descr="assets/andamio.png">    </p:cNvPr>
          <p:cNvPicPr>
            <a:picLocks noChangeAspect="1"/>
          </p:cNvPicPr>
          <p:nvPr/>
        </p:nvPicPr>
        <p:blipFill>
          <a:blip r:embed="rId1"/>
          <a:stretch>
            <a:fillRect/>
          </a:stretch>
        </p:blipFill>
        <p:spPr>
          <a:xfrm>
            <a:off x="7387238" y="1234440"/>
            <a:ext cx="3559244" cy="4389120"/>
          </a:xfrm>
          <a:prstGeom prst="rect">
            <a:avLst/>
          </a:prstGeom>
        </p:spPr>
      </p:pic>
      <p:sp>
        <p:nvSpPr>
          <p:cNvPr id="4" name="Text 1"/>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5" name="Text 2"/>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6" name="Text 3"/>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7" name="Text 4"/>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8" name="Text 5"/>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9"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10"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1"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2" name="Text 6"/>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3"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¿Qué es la ictiosis epidermolítica?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Una enfermedad rara y genética de la piel: la piel es frágil y se descama en exceso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8" name="Text 2"/>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9" name="Shape 3"/>
          <p:cNvSpPr/>
          <p:nvPr/>
        </p:nvSpPr>
        <p:spPr>
          <a:xfrm>
            <a:off x="566928" y="1783080"/>
            <a:ext cx="5943600" cy="1115568"/>
          </a:xfrm>
          <a:prstGeom prst="roundRect">
            <a:avLst>
              <a:gd name="adj" fmla="val 9836"/>
            </a:avLst>
          </a:prstGeom>
          <a:solidFill>
            <a:srgbClr val="F7F9F9"/>
          </a:solidFill>
          <a:ln w="15875">
            <a:solidFill>
              <a:srgbClr val="E4EAEA"/>
            </a:solidFill>
            <a:prstDash val="solid"/>
          </a:ln>
        </p:spPr>
      </p:sp>
      <p:sp>
        <p:nvSpPr>
          <p:cNvPr id="10" name="Shape 4"/>
          <p:cNvSpPr/>
          <p:nvPr/>
        </p:nvSpPr>
        <p:spPr>
          <a:xfrm>
            <a:off x="859536" y="2148840"/>
            <a:ext cx="384048" cy="384048"/>
          </a:xfrm>
          <a:prstGeom prst="ellipse">
            <a:avLst/>
          </a:prstGeom>
          <a:solidFill>
            <a:srgbClr val="3E6B74"/>
          </a:solidFill>
          <a:ln w="12700">
            <a:solidFill>
              <a:srgbClr val="3E6B74"/>
            </a:solidFill>
            <a:prstDash val="solid"/>
          </a:ln>
        </p:spPr>
      </p:sp>
      <p:sp>
        <p:nvSpPr>
          <p:cNvPr id="11" name="Text 5"/>
          <p:cNvSpPr txBox="1"/>
          <p:nvPr/>
        </p:nvSpPr>
        <p:spPr>
          <a:xfrm>
            <a:off x="859536"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2" name="Text 6"/>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3" name="Text 7"/>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4" name="Shape 8"/>
          <p:cNvSpPr/>
          <p:nvPr/>
        </p:nvSpPr>
        <p:spPr>
          <a:xfrm>
            <a:off x="566928" y="3108960"/>
            <a:ext cx="5943600" cy="1115568"/>
          </a:xfrm>
          <a:prstGeom prst="roundRect">
            <a:avLst>
              <a:gd name="adj" fmla="val 9836"/>
            </a:avLst>
          </a:prstGeom>
          <a:solidFill>
            <a:srgbClr val="F7F9F9"/>
          </a:solidFill>
          <a:ln w="15875">
            <a:solidFill>
              <a:srgbClr val="E4EAEA"/>
            </a:solidFill>
            <a:prstDash val="solid"/>
          </a:ln>
        </p:spPr>
      </p:sp>
      <p:sp>
        <p:nvSpPr>
          <p:cNvPr id="15" name="Shape 9"/>
          <p:cNvSpPr/>
          <p:nvPr/>
        </p:nvSpPr>
        <p:spPr>
          <a:xfrm>
            <a:off x="859536" y="3474720"/>
            <a:ext cx="384048" cy="384048"/>
          </a:xfrm>
          <a:prstGeom prst="ellipse">
            <a:avLst/>
          </a:prstGeom>
          <a:solidFill>
            <a:srgbClr val="3E6B74"/>
          </a:solidFill>
          <a:ln w="12700">
            <a:solidFill>
              <a:srgbClr val="3E6B74"/>
            </a:solidFill>
            <a:prstDash val="solid"/>
          </a:ln>
        </p:spPr>
      </p:sp>
      <p:sp>
        <p:nvSpPr>
          <p:cNvPr id="16" name="Text 10"/>
          <p:cNvSpPr txBox="1"/>
          <p:nvPr/>
        </p:nvSpPr>
        <p:spPr>
          <a:xfrm>
            <a:off x="859536" y="3474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7" name="Text 11"/>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8" name="Text 12"/>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9" name="Shape 13"/>
          <p:cNvSpPr/>
          <p:nvPr/>
        </p:nvSpPr>
        <p:spPr>
          <a:xfrm>
            <a:off x="566928" y="4434840"/>
            <a:ext cx="5943600" cy="1115568"/>
          </a:xfrm>
          <a:prstGeom prst="roundRect">
            <a:avLst>
              <a:gd name="adj" fmla="val 9836"/>
            </a:avLst>
          </a:prstGeom>
          <a:solidFill>
            <a:srgbClr val="F6E7E6"/>
          </a:solidFill>
          <a:ln w="19050">
            <a:solidFill>
              <a:srgbClr val="B25650"/>
            </a:solidFill>
            <a:prstDash val="solid"/>
          </a:ln>
        </p:spPr>
      </p:sp>
      <p:sp>
        <p:nvSpPr>
          <p:cNvPr id="20" name="Shape 14"/>
          <p:cNvSpPr/>
          <p:nvPr/>
        </p:nvSpPr>
        <p:spPr>
          <a:xfrm>
            <a:off x="859536" y="4800600"/>
            <a:ext cx="384048" cy="384048"/>
          </a:xfrm>
          <a:prstGeom prst="ellipse">
            <a:avLst/>
          </a:prstGeom>
          <a:solidFill>
            <a:srgbClr val="B25650"/>
          </a:solidFill>
          <a:ln w="12700">
            <a:solidFill>
              <a:srgbClr val="B25650"/>
            </a:solidFill>
            <a:prstDash val="solid"/>
          </a:ln>
        </p:spPr>
      </p:sp>
      <p:sp>
        <p:nvSpPr>
          <p:cNvPr id="21" name="Text 15"/>
          <p:cNvSpPr txBox="1"/>
          <p:nvPr/>
        </p:nvSpPr>
        <p:spPr>
          <a:xfrm>
            <a:off x="859536" y="48006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2" name="Text 16"/>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23" name="Text 17"/>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piel sana, capa a capa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Cada capa de la epidermis fabrica sus propias queratinas; si falla una, aparece una enfermedad distinta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epidermis.png">    </p:cNvPr>
          <p:cNvPicPr>
            <a:picLocks noChangeAspect="1"/>
          </p:cNvPicPr>
          <p:nvPr/>
        </p:nvPicPr>
        <p:blipFill>
          <a:blip r:embed="rId3"/>
          <a:stretch>
            <a:fillRect/>
          </a:stretch>
        </p:blipFill>
        <p:spPr>
          <a:xfrm>
            <a:off x="702793" y="1554480"/>
            <a:ext cx="10786110"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Las queratinas 1 y 10: el andamio de la piel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Van siempre en pareja, y son la causa de la ictiosis epidermolítica: por eso nos centramos en ellas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si una de las dos está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 fibra ya no se forma bien: se rompe, se apelotona y la célula deja de estar sujeta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8" name="Shape 2"/>
          <p:cNvSpPr/>
          <p:nvPr/>
        </p:nvSpPr>
        <p:spPr>
          <a:xfrm>
            <a:off x="1737360" y="5138928"/>
            <a:ext cx="8686800" cy="960120"/>
          </a:xfrm>
          <a:prstGeom prst="roundRect">
            <a:avLst>
              <a:gd name="adj" fmla="val 11429"/>
            </a:avLst>
          </a:prstGeom>
          <a:solidFill>
            <a:srgbClr val="FBF2E6"/>
          </a:solidFill>
          <a:ln w="19050">
            <a:solidFill>
              <a:srgbClr val="D9A441"/>
            </a:solidFill>
            <a:prstDash val="solid"/>
          </a:ln>
        </p:spPr>
      </p:sp>
      <p:sp>
        <p:nvSpPr>
          <p:cNvPr id="9" name="Text 3"/>
          <p:cNvSpPr txBox="1"/>
          <p:nvPr/>
        </p:nvSpPr>
        <p:spPr>
          <a:xfrm>
            <a:off x="1920240" y="5138928"/>
            <a:ext cx="8321040" cy="960120"/>
          </a:xfrm>
          <a:prstGeom prst="rect">
            <a:avLst/>
          </a:prstGeom>
          <a:noFill/>
          <a:ln/>
        </p:spPr>
        <p:txBody>
          <a:bodyPr wrap="square" lIns="0" tIns="0" rIns="0" bIns="0" rtlCol="0" anchor="ctr"/>
          <a:lstStyle/>
          <a:p>
            <a:pPr algn="ctr" indent="0" marL="0">
              <a:buNone/>
            </a:pPr>
            <a:r>
              <a:rPr lang="en-US" sz="1700" b="1" dirty="0">
                <a:solidFill>
                  <a:srgbClr val="A8791C"/>
                </a:solidFill>
                <a:latin typeface="Alata" pitchFamily="34" charset="0"/>
                <a:ea typeface="Alata" pitchFamily="34" charset="-122"/>
                <a:cs typeface="Alata" pitchFamily="34" charset="-120"/>
              </a:rPr>
              <a:t>La piel está gruesa porque se está rompiendo: fabrica capas de más para repararse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Basta con una sola copia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Por eso es una enfermedad dominante: la queratina defectuosa estropea también a las buenas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ominante.png">    </p:cNvPr>
          <p:cNvPicPr>
            <a:picLocks noChangeAspect="1"/>
          </p:cNvPicPr>
          <p:nvPr/>
        </p:nvPicPr>
        <p:blipFill>
          <a:blip r:embed="rId3"/>
          <a:stretch>
            <a:fillRect/>
          </a:stretch>
        </p:blipFill>
        <p:spPr>
          <a:xfrm>
            <a:off x="2834369" y="1481328"/>
            <a:ext cx="6492781"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células y piel de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Para probar un tratamiento hay que tener antes la enfermedad a mano, fuera del paciente</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Text 2"/>
          <p:cNvSpPr txBox="1"/>
          <p:nvPr/>
        </p:nvSpPr>
        <p:spPr>
          <a:xfrm>
            <a:off x="566928" y="1517904"/>
            <a:ext cx="11064240" cy="292608"/>
          </a:xfrm>
          <a:prstGeom prst="rect">
            <a:avLst/>
          </a:prstGeom>
          <a:noFill/>
          <a:ln/>
        </p:spPr>
        <p:txBody>
          <a:bodyPr wrap="square" lIns="0" tIns="0" rIns="0" bIns="0" rtlCol="0" anchor="ctr"/>
          <a:lstStyle/>
          <a:p>
            <a:pPr indent="0" marL="0">
              <a:buNone/>
            </a:pPr>
            <a:r>
              <a:rPr lang="en-US" sz="1350" b="1" dirty="0">
                <a:solidFill>
                  <a:srgbClr val="3E6B74"/>
                </a:solidFill>
                <a:latin typeface="Karla" pitchFamily="34" charset="0"/>
                <a:ea typeface="Karla" pitchFamily="34" charset="-122"/>
                <a:cs typeface="Karla" pitchFamily="34" charset="-120"/>
              </a:rPr>
              <a:t>Primero, células de piel con la mutación del paciente</a:t>
            </a:r>
            <a:endParaRPr lang="en-US" sz="1350" dirty="0"/>
          </a:p>
        </p:txBody>
      </p:sp>
      <p:sp>
        <p:nvSpPr>
          <p:cNvPr id="8" name="Shape 3"/>
          <p:cNvSpPr/>
          <p:nvPr/>
        </p:nvSpPr>
        <p:spPr>
          <a:xfrm>
            <a:off x="566928" y="1847088"/>
            <a:ext cx="3520440" cy="1097280"/>
          </a:xfrm>
          <a:prstGeom prst="roundRect">
            <a:avLst>
              <a:gd name="adj" fmla="val 10000"/>
            </a:avLst>
          </a:prstGeom>
          <a:solidFill>
            <a:srgbClr val="FFFFFF"/>
          </a:solidFill>
          <a:ln w="15875">
            <a:solidFill>
              <a:srgbClr val="E4EAEA"/>
            </a:solidFill>
            <a:prstDash val="solid"/>
          </a:ln>
        </p:spPr>
      </p:sp>
      <p:pic>
        <p:nvPicPr>
          <p:cNvPr id="9" name="Image 2" descr="assets/placa.png">    </p:cNvPr>
          <p:cNvPicPr>
            <a:picLocks noChangeAspect="1"/>
          </p:cNvPicPr>
          <p:nvPr/>
        </p:nvPicPr>
        <p:blipFill>
          <a:blip r:embed="rId3"/>
          <a:stretch>
            <a:fillRect/>
          </a:stretch>
        </p:blipFill>
        <p:spPr>
          <a:xfrm>
            <a:off x="731520" y="2123764"/>
            <a:ext cx="868680" cy="543927"/>
          </a:xfrm>
          <a:prstGeom prst="rect">
            <a:avLst/>
          </a:prstGeom>
        </p:spPr>
      </p:pic>
      <p:sp>
        <p:nvSpPr>
          <p:cNvPr id="10" name="Text 4"/>
          <p:cNvSpPr txBox="1"/>
          <p:nvPr/>
        </p:nvSpPr>
        <p:spPr>
          <a:xfrm>
            <a:off x="1709928" y="2029968"/>
            <a:ext cx="2240280" cy="384048"/>
          </a:xfrm>
          <a:prstGeom prst="rect">
            <a:avLst/>
          </a:prstGeom>
          <a:noFill/>
          <a:ln/>
        </p:spPr>
        <p:txBody>
          <a:bodyPr wrap="square" lIns="0" tIns="0" rIns="0" bIns="0" rtlCol="0" anchor="ctr"/>
          <a:lstStyle/>
          <a:p>
            <a:pPr indent="0" marL="0">
              <a:buNone/>
            </a:pPr>
            <a:r>
              <a:rPr lang="en-US" sz="1400" b="1" dirty="0">
                <a:solidFill>
                  <a:srgbClr val="3E6B74"/>
                </a:solidFill>
                <a:latin typeface="Alata" pitchFamily="34" charset="0"/>
                <a:ea typeface="Alata" pitchFamily="34" charset="-122"/>
                <a:cs typeface="Alata" pitchFamily="34" charset="-120"/>
              </a:rPr>
              <a:t>Células control</a:t>
            </a:r>
            <a:endParaRPr lang="en-US" sz="1400" dirty="0"/>
          </a:p>
        </p:txBody>
      </p:sp>
      <p:sp>
        <p:nvSpPr>
          <p:cNvPr id="11" name="Text 5"/>
          <p:cNvSpPr txBox="1"/>
          <p:nvPr/>
        </p:nvSpPr>
        <p:spPr>
          <a:xfrm>
            <a:off x="170992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nuestro punto de referencia</a:t>
            </a:r>
            <a:endParaRPr lang="en-US" sz="1150" dirty="0"/>
          </a:p>
        </p:txBody>
      </p:sp>
      <p:sp>
        <p:nvSpPr>
          <p:cNvPr id="12" name="Shape 6"/>
          <p:cNvSpPr/>
          <p:nvPr/>
        </p:nvSpPr>
        <p:spPr>
          <a:xfrm>
            <a:off x="4315968" y="1847088"/>
            <a:ext cx="3520440" cy="1097280"/>
          </a:xfrm>
          <a:prstGeom prst="roundRect">
            <a:avLst>
              <a:gd name="adj" fmla="val 10000"/>
            </a:avLst>
          </a:prstGeom>
          <a:solidFill>
            <a:srgbClr val="FFFFFF"/>
          </a:solidFill>
          <a:ln w="15875">
            <a:solidFill>
              <a:srgbClr val="E4EAEA"/>
            </a:solidFill>
            <a:prstDash val="solid"/>
          </a:ln>
        </p:spPr>
      </p:sp>
      <p:pic>
        <p:nvPicPr>
          <p:cNvPr id="13" name="Image 3" descr="assets/placa.png">    </p:cNvPr>
          <p:cNvPicPr>
            <a:picLocks noChangeAspect="1"/>
          </p:cNvPicPr>
          <p:nvPr/>
        </p:nvPicPr>
        <p:blipFill>
          <a:blip r:embed="rId4"/>
          <a:stretch>
            <a:fillRect/>
          </a:stretch>
        </p:blipFill>
        <p:spPr>
          <a:xfrm>
            <a:off x="4480560" y="2123764"/>
            <a:ext cx="868680" cy="543927"/>
          </a:xfrm>
          <a:prstGeom prst="rect">
            <a:avLst/>
          </a:prstGeom>
        </p:spPr>
      </p:pic>
      <p:sp>
        <p:nvSpPr>
          <p:cNvPr id="14" name="Text 7"/>
          <p:cNvSpPr txBox="1"/>
          <p:nvPr/>
        </p:nvSpPr>
        <p:spPr>
          <a:xfrm>
            <a:off x="5458968" y="2029968"/>
            <a:ext cx="2240280" cy="384048"/>
          </a:xfrm>
          <a:prstGeom prst="rect">
            <a:avLst/>
          </a:prstGeom>
          <a:noFill/>
          <a:ln/>
        </p:spPr>
        <p:txBody>
          <a:bodyPr wrap="square" lIns="0" tIns="0" rIns="0" bIns="0" rtlCol="0" anchor="ctr"/>
          <a:lstStyle/>
          <a:p>
            <a:pPr indent="0" marL="0">
              <a:buNone/>
            </a:pPr>
            <a:r>
              <a:rPr lang="en-US" sz="1400" b="1" dirty="0">
                <a:solidFill>
                  <a:srgbClr val="385492"/>
                </a:solidFill>
                <a:latin typeface="Alata" pitchFamily="34" charset="0"/>
                <a:ea typeface="Alata" pitchFamily="34" charset="-122"/>
                <a:cs typeface="Alata" pitchFamily="34" charset="-120"/>
              </a:rPr>
              <a:t>Sin la queratina</a:t>
            </a:r>
            <a:endParaRPr lang="en-US" sz="1400" dirty="0"/>
          </a:p>
        </p:txBody>
      </p:sp>
      <p:sp>
        <p:nvSpPr>
          <p:cNvPr id="15" name="Text 8"/>
          <p:cNvSpPr txBox="1"/>
          <p:nvPr/>
        </p:nvSpPr>
        <p:spPr>
          <a:xfrm>
            <a:off x="545896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hemos quitado el gen entero</a:t>
            </a:r>
            <a:endParaRPr lang="en-US" sz="1150" dirty="0"/>
          </a:p>
        </p:txBody>
      </p:sp>
      <p:sp>
        <p:nvSpPr>
          <p:cNvPr id="16" name="Shape 9"/>
          <p:cNvSpPr/>
          <p:nvPr/>
        </p:nvSpPr>
        <p:spPr>
          <a:xfrm>
            <a:off x="8065008" y="1847088"/>
            <a:ext cx="3520440" cy="1097280"/>
          </a:xfrm>
          <a:prstGeom prst="roundRect">
            <a:avLst>
              <a:gd name="adj" fmla="val 10000"/>
            </a:avLst>
          </a:prstGeom>
          <a:solidFill>
            <a:srgbClr val="F6E7E6"/>
          </a:solidFill>
          <a:ln w="19050">
            <a:solidFill>
              <a:srgbClr val="B25650"/>
            </a:solidFill>
            <a:prstDash val="solid"/>
          </a:ln>
        </p:spPr>
      </p:sp>
      <p:pic>
        <p:nvPicPr>
          <p:cNvPr id="17" name="Image 4" descr="assets/placa.png">    </p:cNvPr>
          <p:cNvPicPr>
            <a:picLocks noChangeAspect="1"/>
          </p:cNvPicPr>
          <p:nvPr/>
        </p:nvPicPr>
        <p:blipFill>
          <a:blip r:embed="rId5"/>
          <a:stretch>
            <a:fillRect/>
          </a:stretch>
        </p:blipFill>
        <p:spPr>
          <a:xfrm>
            <a:off x="8229600" y="2123764"/>
            <a:ext cx="868680" cy="543927"/>
          </a:xfrm>
          <a:prstGeom prst="rect">
            <a:avLst/>
          </a:prstGeom>
        </p:spPr>
      </p:pic>
      <p:sp>
        <p:nvSpPr>
          <p:cNvPr id="18" name="Text 10"/>
          <p:cNvSpPr txBox="1"/>
          <p:nvPr/>
        </p:nvSpPr>
        <p:spPr>
          <a:xfrm>
            <a:off x="9208008" y="2029968"/>
            <a:ext cx="2240280" cy="384048"/>
          </a:xfrm>
          <a:prstGeom prst="rect">
            <a:avLst/>
          </a:prstGeom>
          <a:noFill/>
          <a:ln/>
        </p:spPr>
        <p:txBody>
          <a:bodyPr wrap="square" lIns="0" tIns="0" rIns="0" bIns="0" rtlCol="0" anchor="ctr"/>
          <a:lstStyle/>
          <a:p>
            <a:pPr indent="0" marL="0">
              <a:buNone/>
            </a:pPr>
            <a:r>
              <a:rPr lang="en-US" sz="1400" b="1" dirty="0">
                <a:solidFill>
                  <a:srgbClr val="B25650"/>
                </a:solidFill>
                <a:latin typeface="Alata" pitchFamily="34" charset="0"/>
                <a:ea typeface="Alata" pitchFamily="34" charset="-122"/>
                <a:cs typeface="Alata" pitchFamily="34" charset="-120"/>
              </a:rPr>
              <a:t>Con la mutación</a:t>
            </a:r>
            <a:endParaRPr lang="en-US" sz="1400" dirty="0"/>
          </a:p>
        </p:txBody>
      </p:sp>
      <p:sp>
        <p:nvSpPr>
          <p:cNvPr id="19" name="Text 11"/>
          <p:cNvSpPr txBox="1"/>
          <p:nvPr/>
        </p:nvSpPr>
        <p:spPr>
          <a:xfrm>
            <a:off x="920800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exactamente la del paciente</a:t>
            </a:r>
            <a:endParaRPr lang="en-US" sz="1150" dirty="0"/>
          </a:p>
        </p:txBody>
      </p:sp>
      <p:sp>
        <p:nvSpPr>
          <p:cNvPr id="20" name="Text 12"/>
          <p:cNvSpPr txBox="1"/>
          <p:nvPr/>
        </p:nvSpPr>
        <p:spPr>
          <a:xfrm>
            <a:off x="566928" y="3127248"/>
            <a:ext cx="11064240" cy="292608"/>
          </a:xfrm>
          <a:prstGeom prst="rect">
            <a:avLst/>
          </a:prstGeom>
          <a:noFill/>
          <a:ln/>
        </p:spPr>
        <p:txBody>
          <a:bodyPr wrap="square" lIns="0" tIns="0" rIns="0" bIns="0" rtlCol="0" anchor="ctr"/>
          <a:lstStyle/>
          <a:p>
            <a:pPr indent="0" marL="0">
              <a:buNone/>
            </a:pPr>
            <a:r>
              <a:rPr lang="en-US" sz="1350" b="1" dirty="0">
                <a:solidFill>
                  <a:srgbClr val="3E6B74"/>
                </a:solidFill>
                <a:latin typeface="Karla" pitchFamily="34" charset="0"/>
                <a:ea typeface="Karla" pitchFamily="34" charset="-122"/>
                <a:cs typeface="Karla" pitchFamily="34" charset="-120"/>
              </a:rPr>
              <a:t>Después, las dejamos crecer en tres dimensiones hasta formar una piel completa</a:t>
            </a:r>
            <a:endParaRPr lang="en-US" sz="1350" dirty="0"/>
          </a:p>
        </p:txBody>
      </p:sp>
      <p:pic>
        <p:nvPicPr>
          <p:cNvPr id="21" name="Image 5" descr="figs/fig_3d.png">    </p:cNvPr>
          <p:cNvPicPr>
            <a:picLocks noChangeAspect="1"/>
          </p:cNvPicPr>
          <p:nvPr/>
        </p:nvPicPr>
        <p:blipFill>
          <a:blip r:embed="rId6"/>
          <a:stretch>
            <a:fillRect/>
          </a:stretch>
        </p:blipFill>
        <p:spPr>
          <a:xfrm>
            <a:off x="2568841" y="3474720"/>
            <a:ext cx="7023839" cy="23957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Así se ve nuestra piel de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Cortes al microscopio de los equivalentes cutáneos que fabricamos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45920"/>
            <a:ext cx="4160520" cy="1298448"/>
          </a:xfrm>
          <a:prstGeom prst="roundRect">
            <a:avLst>
              <a:gd name="adj" fmla="val 8451"/>
            </a:avLst>
          </a:prstGeom>
          <a:solidFill>
            <a:srgbClr val="F7F9F9"/>
          </a:solidFill>
          <a:ln w="15875">
            <a:solidFill>
              <a:srgbClr val="E4EAEA"/>
            </a:solidFill>
            <a:prstDash val="solid"/>
          </a:ln>
        </p:spPr>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Shape 5"/>
          <p:cNvSpPr/>
          <p:nvPr/>
        </p:nvSpPr>
        <p:spPr>
          <a:xfrm>
            <a:off x="566928" y="3127248"/>
            <a:ext cx="4160520" cy="1298448"/>
          </a:xfrm>
          <a:prstGeom prst="roundRect">
            <a:avLst>
              <a:gd name="adj" fmla="val 8451"/>
            </a:avLst>
          </a:prstGeom>
          <a:solidFill>
            <a:srgbClr val="F7F9F9"/>
          </a:solidFill>
          <a:ln w="15875">
            <a:solidFill>
              <a:srgbClr val="E4EAEA"/>
            </a:solidFill>
            <a:prstDash val="solid"/>
          </a:ln>
        </p:spPr>
      </p:sp>
      <p:sp>
        <p:nvSpPr>
          <p:cNvPr id="12" name="Text 6"/>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3" name="Text 7"/>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4"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5" name="Shape 8"/>
          <p:cNvSpPr/>
          <p:nvPr/>
        </p:nvSpPr>
        <p:spPr>
          <a:xfrm>
            <a:off x="566928" y="4608576"/>
            <a:ext cx="4160520" cy="1298448"/>
          </a:xfrm>
          <a:prstGeom prst="roundRect">
            <a:avLst>
              <a:gd name="adj" fmla="val 8451"/>
            </a:avLst>
          </a:prstGeom>
          <a:solidFill>
            <a:srgbClr val="F6E7E6"/>
          </a:solidFill>
          <a:ln w="19050">
            <a:solidFill>
              <a:srgbClr val="B25650"/>
            </a:solidFill>
            <a:prstDash val="solid"/>
          </a:ln>
        </p:spPr>
      </p:sp>
      <p:sp>
        <p:nvSpPr>
          <p:cNvPr id="16" name="Text 9"/>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7" name="Text 10"/>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8"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Cómo medimos la fragilidad: el ensayo de dispasa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Reproducimos en la placa lo que a vosotros os pasa en la piel: que se rompe con poco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8" name="Shape 2"/>
          <p:cNvSpPr/>
          <p:nvPr/>
        </p:nvSpPr>
        <p:spPr>
          <a:xfrm>
            <a:off x="1417320" y="4663440"/>
            <a:ext cx="4526280" cy="1234440"/>
          </a:xfrm>
          <a:prstGeom prst="roundRect">
            <a:avLst>
              <a:gd name="adj" fmla="val 8889"/>
            </a:avLst>
          </a:prstGeom>
          <a:solidFill>
            <a:srgbClr val="EFF6F1"/>
          </a:solidFill>
          <a:ln w="19050">
            <a:solidFill>
              <a:srgbClr val="3C7A55"/>
            </a:solidFill>
            <a:prstDash val="solid"/>
          </a:ln>
        </p:spPr>
      </p:sp>
      <p:sp>
        <p:nvSpPr>
          <p:cNvPr id="9" name="Text 3"/>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0" name="Text 4"/>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1" name="Shape 5"/>
          <p:cNvSpPr/>
          <p:nvPr/>
        </p:nvSpPr>
        <p:spPr>
          <a:xfrm>
            <a:off x="6309360" y="4663440"/>
            <a:ext cx="4526280" cy="1234440"/>
          </a:xfrm>
          <a:prstGeom prst="roundRect">
            <a:avLst>
              <a:gd name="adj" fmla="val 8889"/>
            </a:avLst>
          </a:prstGeom>
          <a:solidFill>
            <a:srgbClr val="F6E7E6"/>
          </a:solidFill>
          <a:ln w="19050">
            <a:solidFill>
              <a:srgbClr val="B25650"/>
            </a:solidFill>
            <a:prstDash val="solid"/>
          </a:ln>
        </p:spPr>
      </p:sp>
      <p:sp>
        <p:nvSpPr>
          <p:cNvPr id="12" name="Text 6"/>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3" name="Text 7"/>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¿Cómo se relacionan la K1 y la K10?</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Dos herramientas: una para ver dónde están y otra para medir si de verdad se tocan</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27632"/>
            <a:ext cx="5532120" cy="4160520"/>
          </a:xfrm>
          <a:prstGeom prst="roundRect">
            <a:avLst>
              <a:gd name="adj" fmla="val 2637"/>
            </a:avLst>
          </a:prstGeom>
          <a:solidFill>
            <a:srgbClr val="FFFFFF"/>
          </a:solidFill>
          <a:ln w="15875">
            <a:solidFill>
              <a:srgbClr val="E4EAEA"/>
            </a:solidFill>
            <a:prstDash val="solid"/>
          </a:ln>
        </p:spPr>
      </p:sp>
      <p:sp>
        <p:nvSpPr>
          <p:cNvPr id="8" name="Text 3"/>
          <p:cNvSpPr txBox="1"/>
          <p:nvPr/>
        </p:nvSpPr>
        <p:spPr>
          <a:xfrm>
            <a:off x="859536" y="1810512"/>
            <a:ext cx="397764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Verlas: inmunofluorescencia</a:t>
            </a:r>
            <a:endParaRPr lang="en-US" sz="1800" dirty="0"/>
          </a:p>
        </p:txBody>
      </p:sp>
      <p:pic>
        <p:nvPicPr>
          <p:cNvPr id="9" name="Image 2" descr="assets/icon_anticuerpo.png">    </p:cNvPr>
          <p:cNvPicPr>
            <a:picLocks noChangeAspect="1"/>
          </p:cNvPicPr>
          <p:nvPr/>
        </p:nvPicPr>
        <p:blipFill>
          <a:blip r:embed="rId3"/>
          <a:stretch>
            <a:fillRect/>
          </a:stretch>
        </p:blipFill>
        <p:spPr>
          <a:xfrm>
            <a:off x="5047488" y="1755648"/>
            <a:ext cx="777240" cy="777240"/>
          </a:xfrm>
          <a:prstGeom prst="rect">
            <a:avLst/>
          </a:prstGeom>
        </p:spPr>
      </p:pic>
      <p:sp>
        <p:nvSpPr>
          <p:cNvPr id="10" name="Text 4"/>
          <p:cNvSpPr txBox="1"/>
          <p:nvPr/>
        </p:nvSpPr>
        <p:spPr>
          <a:xfrm>
            <a:off x="859536" y="2304288"/>
            <a:ext cx="416052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Pintamos cada queratina de un color distinto</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y miramos dónde está dentro de la célula</a:t>
            </a:r>
            <a:endParaRPr lang="en-US" sz="1250" dirty="0"/>
          </a:p>
        </p:txBody>
      </p:sp>
      <p:sp>
        <p:nvSpPr>
          <p:cNvPr id="11" name="Shape 5"/>
          <p:cNvSpPr/>
          <p:nvPr/>
        </p:nvSpPr>
        <p:spPr>
          <a:xfrm>
            <a:off x="859536" y="2971800"/>
            <a:ext cx="4937760" cy="2578608"/>
          </a:xfrm>
          <a:prstGeom prst="roundRect">
            <a:avLst>
              <a:gd name="adj" fmla="val 3546"/>
            </a:avLst>
          </a:prstGeom>
          <a:solidFill>
            <a:srgbClr val="F7F9F9"/>
          </a:solidFill>
          <a:ln w="19050">
            <a:solidFill>
              <a:srgbClr val="99B4BB"/>
            </a:solidFill>
            <a:prstDash val="dash"/>
          </a:ln>
        </p:spPr>
      </p:sp>
      <p:sp>
        <p:nvSpPr>
          <p:cNvPr id="12" name="Text 6"/>
          <p:cNvSpPr txBox="1"/>
          <p:nvPr/>
        </p:nvSpPr>
        <p:spPr>
          <a:xfrm>
            <a:off x="1042416" y="2971800"/>
            <a:ext cx="4572000" cy="2578608"/>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 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 y mutante)</a:t>
            </a:r>
            <a:endParaRPr lang="en-US" sz="1300" dirty="0"/>
          </a:p>
        </p:txBody>
      </p:sp>
      <p:sp>
        <p:nvSpPr>
          <p:cNvPr id="13" name="Shape 7"/>
          <p:cNvSpPr/>
          <p:nvPr/>
        </p:nvSpPr>
        <p:spPr>
          <a:xfrm>
            <a:off x="6446520" y="1627632"/>
            <a:ext cx="5166360" cy="4160520"/>
          </a:xfrm>
          <a:prstGeom prst="roundRect">
            <a:avLst>
              <a:gd name="adj" fmla="val 2637"/>
            </a:avLst>
          </a:prstGeom>
          <a:solidFill>
            <a:srgbClr val="FBF2E6"/>
          </a:solidFill>
          <a:ln w="19050">
            <a:solidFill>
              <a:srgbClr val="D9A441"/>
            </a:solidFill>
            <a:prstDash val="solid"/>
          </a:ln>
        </p:spPr>
      </p:sp>
      <p:sp>
        <p:nvSpPr>
          <p:cNvPr id="14" name="Text 8"/>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A8791C"/>
                </a:solidFill>
                <a:latin typeface="Alata" pitchFamily="34" charset="0"/>
                <a:ea typeface="Alata" pitchFamily="34" charset="-122"/>
                <a:cs typeface="Alata" pitchFamily="34" charset="-120"/>
              </a:rPr>
              <a:t>Medir si se tocan: NanoBiT</a:t>
            </a:r>
            <a:endParaRPr lang="en-US" sz="1800" dirty="0"/>
          </a:p>
        </p:txBody>
      </p:sp>
      <p:sp>
        <p:nvSpPr>
          <p:cNvPr id="15" name="Text 9"/>
          <p:cNvSpPr txBox="1"/>
          <p:nvPr/>
        </p:nvSpPr>
        <p:spPr>
          <a:xfrm>
            <a:off x="6739128" y="2304288"/>
            <a:ext cx="457200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A cada queratina le pegamos media «bombilla»:</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solo se enciende si las dos se juntan</a:t>
            </a:r>
            <a:endParaRPr lang="en-US" sz="1250" dirty="0"/>
          </a:p>
        </p:txBody>
      </p:sp>
      <p:pic>
        <p:nvPicPr>
          <p:cNvPr id="16" name="Image 3" descr="figs/fig_nanobit_mini.png">    </p:cNvPr>
          <p:cNvPicPr>
            <a:picLocks noChangeAspect="1"/>
          </p:cNvPicPr>
          <p:nvPr/>
        </p:nvPicPr>
        <p:blipFill>
          <a:blip r:embed="rId4"/>
          <a:stretch>
            <a:fillRect/>
          </a:stretch>
        </p:blipFill>
        <p:spPr>
          <a:xfrm>
            <a:off x="6844453" y="2944368"/>
            <a:ext cx="4370493" cy="1325880"/>
          </a:xfrm>
          <a:prstGeom prst="rect">
            <a:avLst/>
          </a:prstGeom>
        </p:spPr>
      </p:pic>
      <p:sp>
        <p:nvSpPr>
          <p:cNvPr id="17" name="Shape 10"/>
          <p:cNvSpPr/>
          <p:nvPr/>
        </p:nvSpPr>
        <p:spPr>
          <a:xfrm>
            <a:off x="6739128" y="4407408"/>
            <a:ext cx="4572000" cy="1143000"/>
          </a:xfrm>
          <a:prstGeom prst="roundRect">
            <a:avLst>
              <a:gd name="adj" fmla="val 8000"/>
            </a:avLst>
          </a:prstGeom>
          <a:solidFill>
            <a:srgbClr val="F7F9F9"/>
          </a:solidFill>
          <a:ln w="19050">
            <a:solidFill>
              <a:srgbClr val="99B4BB"/>
            </a:solidFill>
            <a:prstDash val="dash"/>
          </a:ln>
        </p:spPr>
      </p:sp>
      <p:sp>
        <p:nvSpPr>
          <p:cNvPr id="18" name="Text 11"/>
          <p:cNvSpPr txBox="1"/>
          <p:nvPr/>
        </p:nvSpPr>
        <p:spPr>
          <a:xfrm>
            <a:off x="6922008" y="4407408"/>
            <a:ext cx="4206240" cy="114300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 de NanoBiT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de ratón</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Ratones que llevan la mutación del paciente, para ver la enfermedad en un cuerpo completo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3703320"/>
          </a:xfrm>
          <a:prstGeom prst="roundRect">
            <a:avLst>
              <a:gd name="adj" fmla="val 3117"/>
            </a:avLst>
          </a:prstGeom>
          <a:solidFill>
            <a:srgbClr val="FFFFFF"/>
          </a:solidFill>
          <a:ln w="15875">
            <a:solidFill>
              <a:srgbClr val="E4EAEA"/>
            </a:solidFill>
            <a:prstDash val="solid"/>
          </a:ln>
        </p:spPr>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sp>
        <p:nvSpPr>
          <p:cNvPr id="11" name="Shape 5"/>
          <p:cNvSpPr/>
          <p:nvPr/>
        </p:nvSpPr>
        <p:spPr>
          <a:xfrm>
            <a:off x="4315968" y="1691640"/>
            <a:ext cx="3520440" cy="3703320"/>
          </a:xfrm>
          <a:prstGeom prst="roundRect">
            <a:avLst>
              <a:gd name="adj" fmla="val 3117"/>
            </a:avLst>
          </a:prstGeom>
          <a:solidFill>
            <a:srgbClr val="F6E7E6"/>
          </a:solidFill>
          <a:ln w="19050">
            <a:solidFill>
              <a:srgbClr val="B25650"/>
            </a:solidFill>
            <a:prstDash val="solid"/>
          </a:ln>
        </p:spPr>
      </p:sp>
      <p:pic>
        <p:nvPicPr>
          <p:cNvPr id="12"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3" name="Text 6"/>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4" name="Text 7"/>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sp>
        <p:nvSpPr>
          <p:cNvPr id="15" name="Shape 8"/>
          <p:cNvSpPr/>
          <p:nvPr/>
        </p:nvSpPr>
        <p:spPr>
          <a:xfrm>
            <a:off x="8065008" y="1691640"/>
            <a:ext cx="3520440" cy="3703320"/>
          </a:xfrm>
          <a:prstGeom prst="roundRect">
            <a:avLst>
              <a:gd name="adj" fmla="val 3117"/>
            </a:avLst>
          </a:prstGeom>
          <a:solidFill>
            <a:srgbClr val="FFFFFF"/>
          </a:solidFill>
          <a:ln w="15875">
            <a:solidFill>
              <a:srgbClr val="E4EAEA"/>
            </a:solidFill>
            <a:prstDash val="solid"/>
          </a:ln>
        </p:spPr>
      </p:sp>
      <p:pic>
        <p:nvPicPr>
          <p:cNvPr id="16"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7" name="Text 9"/>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8" name="Text 10"/>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9" name="Text 11"/>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K1 y K10 no se comportan igual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Son socias, pero no son intercambiables: sus mutaciones no producen el mismo cuadro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5257800" cy="3520440"/>
          </a:xfrm>
          <a:prstGeom prst="roundRect">
            <a:avLst>
              <a:gd name="adj" fmla="val 3117"/>
            </a:avLst>
          </a:prstGeom>
          <a:solidFill>
            <a:srgbClr val="E6EBF4"/>
          </a:solidFill>
          <a:ln w="19050">
            <a:solidFill>
              <a:srgbClr val="385492"/>
            </a:solidFill>
            <a:prstDash val="solid"/>
          </a:ln>
        </p:spPr>
      </p:sp>
      <p:sp>
        <p:nvSpPr>
          <p:cNvPr id="8" name="Text 3"/>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9" name="Shape 4"/>
          <p:cNvSpPr/>
          <p:nvPr/>
        </p:nvSpPr>
        <p:spPr>
          <a:xfrm>
            <a:off x="914400" y="2651760"/>
            <a:ext cx="146304" cy="146304"/>
          </a:xfrm>
          <a:prstGeom prst="ellipse">
            <a:avLst/>
          </a:prstGeom>
          <a:solidFill>
            <a:srgbClr val="385492"/>
          </a:solidFill>
          <a:ln w="12700">
            <a:solidFill>
              <a:srgbClr val="385492"/>
            </a:solidFill>
            <a:prstDash val="solid"/>
          </a:ln>
        </p:spPr>
      </p:sp>
      <p:sp>
        <p:nvSpPr>
          <p:cNvPr id="10" name="Text 5"/>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1" name="Shape 6"/>
          <p:cNvSpPr/>
          <p:nvPr/>
        </p:nvSpPr>
        <p:spPr>
          <a:xfrm>
            <a:off x="914400" y="3639312"/>
            <a:ext cx="146304" cy="146304"/>
          </a:xfrm>
          <a:prstGeom prst="ellipse">
            <a:avLst/>
          </a:prstGeom>
          <a:solidFill>
            <a:srgbClr val="385492"/>
          </a:solidFill>
          <a:ln w="12700">
            <a:solidFill>
              <a:srgbClr val="385492"/>
            </a:solidFill>
            <a:prstDash val="solid"/>
          </a:ln>
        </p:spPr>
      </p:sp>
      <p:sp>
        <p:nvSpPr>
          <p:cNvPr id="12" name="Text 7"/>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3" name="Shape 8"/>
          <p:cNvSpPr/>
          <p:nvPr/>
        </p:nvSpPr>
        <p:spPr>
          <a:xfrm>
            <a:off x="914400" y="4626864"/>
            <a:ext cx="146304" cy="146304"/>
          </a:xfrm>
          <a:prstGeom prst="ellipse">
            <a:avLst/>
          </a:prstGeom>
          <a:solidFill>
            <a:srgbClr val="385492"/>
          </a:solidFill>
          <a:ln w="12700">
            <a:solidFill>
              <a:srgbClr val="385492"/>
            </a:solidFill>
            <a:prstDash val="solid"/>
          </a:ln>
        </p:spPr>
      </p:sp>
      <p:sp>
        <p:nvSpPr>
          <p:cNvPr id="14" name="Text 9"/>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5" name="Shape 10"/>
          <p:cNvSpPr/>
          <p:nvPr/>
        </p:nvSpPr>
        <p:spPr>
          <a:xfrm>
            <a:off x="6190488" y="1691640"/>
            <a:ext cx="5257800" cy="3520440"/>
          </a:xfrm>
          <a:prstGeom prst="roundRect">
            <a:avLst>
              <a:gd name="adj" fmla="val 3117"/>
            </a:avLst>
          </a:prstGeom>
          <a:solidFill>
            <a:srgbClr val="F6E7E6"/>
          </a:solidFill>
          <a:ln w="19050">
            <a:solidFill>
              <a:srgbClr val="B25650"/>
            </a:solidFill>
            <a:prstDash val="solid"/>
          </a:ln>
        </p:spPr>
      </p:sp>
      <p:sp>
        <p:nvSpPr>
          <p:cNvPr id="16" name="Text 11"/>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7" name="Shape 12"/>
          <p:cNvSpPr/>
          <p:nvPr/>
        </p:nvSpPr>
        <p:spPr>
          <a:xfrm>
            <a:off x="6537960" y="2651760"/>
            <a:ext cx="146304" cy="146304"/>
          </a:xfrm>
          <a:prstGeom prst="ellipse">
            <a:avLst/>
          </a:prstGeom>
          <a:solidFill>
            <a:srgbClr val="B25650"/>
          </a:solidFill>
          <a:ln w="12700">
            <a:solidFill>
              <a:srgbClr val="B25650"/>
            </a:solidFill>
            <a:prstDash val="solid"/>
          </a:ln>
        </p:spPr>
      </p:sp>
      <p:sp>
        <p:nvSpPr>
          <p:cNvPr id="18" name="Text 13"/>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19" name="Shape 14"/>
          <p:cNvSpPr/>
          <p:nvPr/>
        </p:nvSpPr>
        <p:spPr>
          <a:xfrm>
            <a:off x="6537960" y="3639312"/>
            <a:ext cx="146304" cy="146304"/>
          </a:xfrm>
          <a:prstGeom prst="ellipse">
            <a:avLst/>
          </a:prstGeom>
          <a:solidFill>
            <a:srgbClr val="B25650"/>
          </a:solidFill>
          <a:ln w="12700">
            <a:solidFill>
              <a:srgbClr val="B25650"/>
            </a:solidFill>
            <a:prstDash val="solid"/>
          </a:ln>
        </p:spPr>
      </p:sp>
      <p:sp>
        <p:nvSpPr>
          <p:cNvPr id="20" name="Text 15"/>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1" name="Shape 16"/>
          <p:cNvSpPr/>
          <p:nvPr/>
        </p:nvSpPr>
        <p:spPr>
          <a:xfrm>
            <a:off x="6537960" y="4626864"/>
            <a:ext cx="146304" cy="146304"/>
          </a:xfrm>
          <a:prstGeom prst="ellipse">
            <a:avLst/>
          </a:prstGeom>
          <a:solidFill>
            <a:srgbClr val="B25650"/>
          </a:solidFill>
          <a:ln w="12700">
            <a:solidFill>
              <a:srgbClr val="B25650"/>
            </a:solidFill>
            <a:prstDash val="solid"/>
          </a:ln>
        </p:spPr>
      </p:sp>
      <p:sp>
        <p:nvSpPr>
          <p:cNvPr id="22" name="Text 17"/>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3" name="Text 18"/>
          <p:cNvSpPr txBox="1"/>
          <p:nvPr/>
        </p:nvSpPr>
        <p:spPr>
          <a:xfrm>
            <a:off x="566928" y="5486400"/>
            <a:ext cx="11057839"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Por eso no vale con estudiar una y dar por hecho que la otra funciona igual</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queratina 1 y la inflamación: la IL-18</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Cuando la K1 falla, la piel no solo se rompe: además enciende una alarma inflamatoria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8" name="Text 2"/>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9" name="Shape 3"/>
          <p:cNvSpPr/>
          <p:nvPr/>
        </p:nvSpPr>
        <p:spPr>
          <a:xfrm>
            <a:off x="566928" y="4800600"/>
            <a:ext cx="5394960" cy="1143000"/>
          </a:xfrm>
          <a:prstGeom prst="roundRect">
            <a:avLst>
              <a:gd name="adj" fmla="val 9600"/>
            </a:avLst>
          </a:prstGeom>
          <a:solidFill>
            <a:srgbClr val="F7F9F9"/>
          </a:solidFill>
          <a:ln w="15875">
            <a:solidFill>
              <a:srgbClr val="E4EAEA"/>
            </a:solidFill>
            <a:prstDash val="solid"/>
          </a:ln>
        </p:spPr>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Shape 6"/>
          <p:cNvSpPr/>
          <p:nvPr/>
        </p:nvSpPr>
        <p:spPr>
          <a:xfrm>
            <a:off x="6236208" y="4800600"/>
            <a:ext cx="5394960" cy="1143000"/>
          </a:xfrm>
          <a:prstGeom prst="roundRect">
            <a:avLst>
              <a:gd name="adj" fmla="val 9600"/>
            </a:avLst>
          </a:prstGeom>
          <a:solidFill>
            <a:srgbClr val="FBF2E6"/>
          </a:solidFill>
          <a:ln w="19050">
            <a:solidFill>
              <a:srgbClr val="D9A441"/>
            </a:solidFill>
            <a:prstDash val="solid"/>
          </a:ln>
        </p:spPr>
      </p:sp>
      <p:sp>
        <p:nvSpPr>
          <p:cNvPr id="13" name="Text 7"/>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4" name="Text 8"/>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Nuestra estrategia, en dos pasos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Apagar solo la copia estropeada y, a la vez, reponer una copia sana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8" name="Shape 2"/>
          <p:cNvSpPr/>
          <p:nvPr/>
        </p:nvSpPr>
        <p:spPr>
          <a:xfrm>
            <a:off x="1554480" y="5504688"/>
            <a:ext cx="9052560" cy="777240"/>
          </a:xfrm>
          <a:prstGeom prst="roundRect">
            <a:avLst>
              <a:gd name="adj" fmla="val 14118"/>
            </a:avLst>
          </a:prstGeom>
          <a:solidFill>
            <a:srgbClr val="EDF5F5"/>
          </a:solidFill>
          <a:ln w="19050">
            <a:solidFill>
              <a:srgbClr val="BEDADE"/>
            </a:solidFill>
            <a:prstDash val="solid"/>
          </a:ln>
        </p:spPr>
      </p:sp>
      <p:sp>
        <p:nvSpPr>
          <p:cNvPr id="9" name="Text 3"/>
          <p:cNvSpPr txBox="1"/>
          <p:nvPr/>
        </p:nvSpPr>
        <p:spPr>
          <a:xfrm>
            <a:off x="1737360" y="5504688"/>
            <a:ext cx="8686800" cy="77724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No tocamos vuestro ADN: actuamos sobre las fotocopias, no sobre el manual original</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cómo lo llevamos hasta la piel?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Hace falta un ADN limpio y un vehículo que lo transporte hasta las células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27632"/>
            <a:ext cx="5532120" cy="3931920"/>
          </a:xfrm>
          <a:prstGeom prst="roundRect">
            <a:avLst>
              <a:gd name="adj" fmla="val 2791"/>
            </a:avLst>
          </a:prstGeom>
          <a:solidFill>
            <a:srgbClr val="FFFFFF"/>
          </a:solidFill>
          <a:ln w="15875">
            <a:solidFill>
              <a:srgbClr val="E4EAEA"/>
            </a:solidFill>
            <a:prstDash val="solid"/>
          </a:ln>
        </p:spPr>
      </p:sp>
      <p:sp>
        <p:nvSpPr>
          <p:cNvPr id="8" name="Text 3"/>
          <p:cNvSpPr txBox="1"/>
          <p:nvPr/>
        </p:nvSpPr>
        <p:spPr>
          <a:xfrm>
            <a:off x="859536" y="1810512"/>
            <a:ext cx="4937760" cy="411480"/>
          </a:xfrm>
          <a:prstGeom prst="rect">
            <a:avLst/>
          </a:prstGeom>
          <a:noFill/>
          <a:ln/>
        </p:spPr>
        <p:txBody>
          <a:bodyPr wrap="square" lIns="0" tIns="0" rIns="0" bIns="0" rtlCol="0" anchor="ctr"/>
          <a:lstStyle/>
          <a:p>
            <a:pPr indent="0" marL="0">
              <a:buNone/>
            </a:pPr>
            <a:r>
              <a:rPr lang="en-US" sz="1800" b="1" dirty="0">
                <a:solidFill>
                  <a:srgbClr val="191919"/>
                </a:solidFill>
                <a:latin typeface="Alata" pitchFamily="34" charset="0"/>
                <a:ea typeface="Alata" pitchFamily="34" charset="-122"/>
                <a:cs typeface="Alata" pitchFamily="34" charset="-120"/>
              </a:rPr>
              <a:t>Un ADN más pequeño y más limpio</a:t>
            </a:r>
            <a:endParaRPr lang="en-US" sz="1800" dirty="0"/>
          </a:p>
        </p:txBody>
      </p:sp>
      <p:pic>
        <p:nvPicPr>
          <p:cNvPr id="9" name="Image 2" descr="assets/plasmido.png">    </p:cNvPr>
          <p:cNvPicPr>
            <a:picLocks noChangeAspect="1"/>
          </p:cNvPicPr>
          <p:nvPr/>
        </p:nvPicPr>
        <p:blipFill>
          <a:blip r:embed="rId3"/>
          <a:stretch>
            <a:fillRect/>
          </a:stretch>
        </p:blipFill>
        <p:spPr>
          <a:xfrm>
            <a:off x="886968" y="2523770"/>
            <a:ext cx="1874520" cy="1088083"/>
          </a:xfrm>
          <a:prstGeom prst="rect">
            <a:avLst/>
          </a:prstGeom>
        </p:spPr>
      </p:pic>
      <p:sp>
        <p:nvSpPr>
          <p:cNvPr id="10" name="Shape 4"/>
          <p:cNvSpPr/>
          <p:nvPr/>
        </p:nvSpPr>
        <p:spPr>
          <a:xfrm>
            <a:off x="2944368" y="2907792"/>
            <a:ext cx="438912" cy="292608"/>
          </a:xfrm>
          <a:prstGeom prst="rightArrow">
            <a:avLst/>
          </a:prstGeom>
          <a:solidFill>
            <a:srgbClr val="99B4BB"/>
          </a:solidFill>
          <a:ln w="12700">
            <a:solidFill>
              <a:srgbClr val="99B4BB"/>
            </a:solidFill>
            <a:prstDash val="solid"/>
          </a:ln>
        </p:spPr>
      </p:sp>
      <p:pic>
        <p:nvPicPr>
          <p:cNvPr id="11" name="Image 3" descr="assets/minicirculo.png">    </p:cNvPr>
          <p:cNvPicPr>
            <a:picLocks noChangeAspect="1"/>
          </p:cNvPicPr>
          <p:nvPr/>
        </p:nvPicPr>
        <p:blipFill>
          <a:blip r:embed="rId4"/>
          <a:stretch>
            <a:fillRect/>
          </a:stretch>
        </p:blipFill>
        <p:spPr>
          <a:xfrm>
            <a:off x="3786429" y="2359152"/>
            <a:ext cx="1699158" cy="1417320"/>
          </a:xfrm>
          <a:prstGeom prst="rect">
            <a:avLst/>
          </a:prstGeom>
        </p:spPr>
      </p:pic>
      <p:sp>
        <p:nvSpPr>
          <p:cNvPr id="12" name="Text 5"/>
          <p:cNvSpPr txBox="1"/>
          <p:nvPr/>
        </p:nvSpPr>
        <p:spPr>
          <a:xfrm>
            <a:off x="886968" y="3803904"/>
            <a:ext cx="1874520" cy="292608"/>
          </a:xfrm>
          <a:prstGeom prst="rect">
            <a:avLst/>
          </a:prstGeom>
          <a:noFill/>
          <a:ln/>
        </p:spPr>
        <p:txBody>
          <a:bodyPr wrap="square" lIns="0" tIns="0" rIns="0" bIns="0" rtlCol="0" anchor="ctr"/>
          <a:lstStyle/>
          <a:p>
            <a:pPr algn="ctr" indent="0" marL="0">
              <a:buNone/>
            </a:pPr>
            <a:r>
              <a:rPr lang="en-US" sz="1300" b="1" dirty="0">
                <a:solidFill>
                  <a:srgbClr val="63706F"/>
                </a:solidFill>
                <a:latin typeface="Karla" pitchFamily="34" charset="0"/>
                <a:ea typeface="Karla" pitchFamily="34" charset="-122"/>
                <a:cs typeface="Karla" pitchFamily="34" charset="-120"/>
              </a:rPr>
              <a:t>Plásmido</a:t>
            </a:r>
            <a:endParaRPr lang="en-US" sz="1300" dirty="0"/>
          </a:p>
        </p:txBody>
      </p:sp>
      <p:sp>
        <p:nvSpPr>
          <p:cNvPr id="13" name="Text 6"/>
          <p:cNvSpPr txBox="1"/>
          <p:nvPr/>
        </p:nvSpPr>
        <p:spPr>
          <a:xfrm>
            <a:off x="3584448" y="3803904"/>
            <a:ext cx="2103120" cy="292608"/>
          </a:xfrm>
          <a:prstGeom prst="rect">
            <a:avLst/>
          </a:prstGeom>
          <a:noFill/>
          <a:ln/>
        </p:spPr>
        <p:txBody>
          <a:bodyPr wrap="square" lIns="0" tIns="0" rIns="0" bIns="0" rtlCol="0" anchor="ctr"/>
          <a:lstStyle/>
          <a:p>
            <a:pPr algn="ctr" indent="0" marL="0">
              <a:buNone/>
            </a:pPr>
            <a:r>
              <a:rPr lang="en-US" sz="1300" b="1" dirty="0">
                <a:solidFill>
                  <a:srgbClr val="3E6B74"/>
                </a:solidFill>
                <a:latin typeface="Karla" pitchFamily="34" charset="0"/>
                <a:ea typeface="Karla" pitchFamily="34" charset="-122"/>
                <a:cs typeface="Karla" pitchFamily="34" charset="-120"/>
              </a:rPr>
              <a:t>Minicírculo</a:t>
            </a:r>
            <a:endParaRPr lang="en-US" sz="1300" dirty="0"/>
          </a:p>
        </p:txBody>
      </p:sp>
      <p:sp>
        <p:nvSpPr>
          <p:cNvPr id="14" name="Shape 7"/>
          <p:cNvSpPr/>
          <p:nvPr/>
        </p:nvSpPr>
        <p:spPr>
          <a:xfrm>
            <a:off x="914400" y="4270248"/>
            <a:ext cx="182880" cy="182880"/>
          </a:xfrm>
          <a:prstGeom prst="ellipse">
            <a:avLst/>
          </a:prstGeom>
          <a:solidFill>
            <a:srgbClr val="3C7A55"/>
          </a:solidFill>
          <a:ln w="12700">
            <a:solidFill>
              <a:srgbClr val="3C7A55"/>
            </a:solidFill>
            <a:prstDash val="solid"/>
          </a:ln>
        </p:spPr>
      </p:sp>
      <p:sp>
        <p:nvSpPr>
          <p:cNvPr id="15" name="Text 8"/>
          <p:cNvSpPr txBox="1"/>
          <p:nvPr/>
        </p:nvSpPr>
        <p:spPr>
          <a:xfrm>
            <a:off x="914400" y="4270248"/>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6" name="Text 9"/>
          <p:cNvSpPr txBox="1"/>
          <p:nvPr/>
        </p:nvSpPr>
        <p:spPr>
          <a:xfrm>
            <a:off x="1225296" y="4224528"/>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Entra mejor en las células</a:t>
            </a:r>
            <a:endParaRPr lang="en-US" sz="1250" dirty="0"/>
          </a:p>
        </p:txBody>
      </p:sp>
      <p:sp>
        <p:nvSpPr>
          <p:cNvPr id="17" name="Shape 10"/>
          <p:cNvSpPr/>
          <p:nvPr/>
        </p:nvSpPr>
        <p:spPr>
          <a:xfrm>
            <a:off x="914400" y="4654296"/>
            <a:ext cx="182880" cy="182880"/>
          </a:xfrm>
          <a:prstGeom prst="ellipse">
            <a:avLst/>
          </a:prstGeom>
          <a:solidFill>
            <a:srgbClr val="3C7A55"/>
          </a:solidFill>
          <a:ln w="12700">
            <a:solidFill>
              <a:srgbClr val="3C7A55"/>
            </a:solidFill>
            <a:prstDash val="solid"/>
          </a:ln>
        </p:spPr>
      </p:sp>
      <p:sp>
        <p:nvSpPr>
          <p:cNvPr id="18" name="Text 11"/>
          <p:cNvSpPr txBox="1"/>
          <p:nvPr/>
        </p:nvSpPr>
        <p:spPr>
          <a:xfrm>
            <a:off x="914400" y="4654296"/>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9" name="Text 12"/>
          <p:cNvSpPr txBox="1"/>
          <p:nvPr/>
        </p:nvSpPr>
        <p:spPr>
          <a:xfrm>
            <a:off x="1225296" y="4608576"/>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Sin genes de resistencia a antibióticos</a:t>
            </a:r>
            <a:endParaRPr lang="en-US" sz="1250" dirty="0"/>
          </a:p>
        </p:txBody>
      </p:sp>
      <p:sp>
        <p:nvSpPr>
          <p:cNvPr id="20" name="Shape 13"/>
          <p:cNvSpPr/>
          <p:nvPr/>
        </p:nvSpPr>
        <p:spPr>
          <a:xfrm>
            <a:off x="914400" y="5038344"/>
            <a:ext cx="182880" cy="182880"/>
          </a:xfrm>
          <a:prstGeom prst="ellipse">
            <a:avLst/>
          </a:prstGeom>
          <a:solidFill>
            <a:srgbClr val="3C7A55"/>
          </a:solidFill>
          <a:ln w="12700">
            <a:solidFill>
              <a:srgbClr val="3C7A55"/>
            </a:solidFill>
            <a:prstDash val="solid"/>
          </a:ln>
        </p:spPr>
      </p:sp>
      <p:sp>
        <p:nvSpPr>
          <p:cNvPr id="21" name="Text 14"/>
          <p:cNvSpPr txBox="1"/>
          <p:nvPr/>
        </p:nvSpPr>
        <p:spPr>
          <a:xfrm>
            <a:off x="914400" y="5038344"/>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2" name="Text 15"/>
          <p:cNvSpPr txBox="1"/>
          <p:nvPr/>
        </p:nvSpPr>
        <p:spPr>
          <a:xfrm>
            <a:off x="1225296" y="4992624"/>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El efecto dura más tiempo</a:t>
            </a:r>
            <a:endParaRPr lang="en-US" sz="1250" dirty="0"/>
          </a:p>
        </p:txBody>
      </p:sp>
      <p:sp>
        <p:nvSpPr>
          <p:cNvPr id="23" name="Shape 16"/>
          <p:cNvSpPr/>
          <p:nvPr/>
        </p:nvSpPr>
        <p:spPr>
          <a:xfrm>
            <a:off x="6446520" y="1627632"/>
            <a:ext cx="5166360" cy="3931920"/>
          </a:xfrm>
          <a:prstGeom prst="roundRect">
            <a:avLst>
              <a:gd name="adj" fmla="val 2791"/>
            </a:avLst>
          </a:prstGeom>
          <a:solidFill>
            <a:srgbClr val="EDF5F5"/>
          </a:solidFill>
          <a:ln w="19050">
            <a:solidFill>
              <a:srgbClr val="BEDADE"/>
            </a:solidFill>
            <a:prstDash val="solid"/>
          </a:ln>
        </p:spPr>
      </p:sp>
      <p:sp>
        <p:nvSpPr>
          <p:cNvPr id="24" name="Text 17"/>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Un vehículo que lo lleve dentro</a:t>
            </a:r>
            <a:endParaRPr lang="en-US" sz="1800" dirty="0"/>
          </a:p>
        </p:txBody>
      </p:sp>
      <p:pic>
        <p:nvPicPr>
          <p:cNvPr id="25" name="Image 4" descr="assets/lnp.png">    </p:cNvPr>
          <p:cNvPicPr>
            <a:picLocks noChangeAspect="1"/>
          </p:cNvPicPr>
          <p:nvPr/>
        </p:nvPicPr>
        <p:blipFill>
          <a:blip r:embed="rId5"/>
          <a:stretch>
            <a:fillRect/>
          </a:stretch>
        </p:blipFill>
        <p:spPr>
          <a:xfrm>
            <a:off x="6968729" y="2359152"/>
            <a:ext cx="1735358" cy="1463040"/>
          </a:xfrm>
          <a:prstGeom prst="rect">
            <a:avLst/>
          </a:prstGeom>
        </p:spPr>
      </p:pic>
      <p:pic>
        <p:nvPicPr>
          <p:cNvPr id="26" name="Image 5" descr="assets/crema_mano.png">    </p:cNvPr>
          <p:cNvPicPr>
            <a:picLocks noChangeAspect="1"/>
          </p:cNvPicPr>
          <p:nvPr/>
        </p:nvPicPr>
        <p:blipFill>
          <a:blip r:embed="rId6"/>
          <a:stretch>
            <a:fillRect/>
          </a:stretch>
        </p:blipFill>
        <p:spPr>
          <a:xfrm>
            <a:off x="9187846" y="2423160"/>
            <a:ext cx="2061148" cy="1371600"/>
          </a:xfrm>
          <a:prstGeom prst="rect">
            <a:avLst/>
          </a:prstGeom>
        </p:spPr>
      </p:pic>
      <p:sp>
        <p:nvSpPr>
          <p:cNvPr id="27" name="Text 18"/>
          <p:cNvSpPr txBox="1"/>
          <p:nvPr/>
        </p:nvSpPr>
        <p:spPr>
          <a:xfrm>
            <a:off x="6784848" y="3895344"/>
            <a:ext cx="210312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Nanopartículas lipídicas</a:t>
            </a:r>
            <a:endParaRPr lang="en-US" sz="1250" dirty="0"/>
          </a:p>
        </p:txBody>
      </p:sp>
      <p:sp>
        <p:nvSpPr>
          <p:cNvPr id="28" name="Text 19"/>
          <p:cNvSpPr txBox="1"/>
          <p:nvPr/>
        </p:nvSpPr>
        <p:spPr>
          <a:xfrm>
            <a:off x="9098280" y="3895344"/>
            <a:ext cx="224028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El objetivo: una crema</a:t>
            </a:r>
            <a:endParaRPr lang="en-US" sz="1250" dirty="0"/>
          </a:p>
        </p:txBody>
      </p:sp>
      <p:sp>
        <p:nvSpPr>
          <p:cNvPr id="29" name="Text 20"/>
          <p:cNvSpPr txBox="1"/>
          <p:nvPr/>
        </p:nvSpPr>
        <p:spPr>
          <a:xfrm>
            <a:off x="6739128" y="4315968"/>
            <a:ext cx="4572000" cy="1051560"/>
          </a:xfrm>
          <a:prstGeom prst="rect">
            <a:avLst/>
          </a:prstGeom>
          <a:noFill/>
          <a:ln/>
        </p:spPr>
        <p:txBody>
          <a:bodyPr wrap="square" lIns="0" tIns="0" rIns="0" bIns="0" rtlCol="0" anchor="t"/>
          <a:lstStyle/>
          <a:p>
            <a:pPr indent="0" marL="0">
              <a:lnSpc>
                <a:spcPts val="1800"/>
              </a:lnSpc>
              <a:buNone/>
            </a:pPr>
            <a:r>
              <a:rPr lang="en-US" sz="1250" dirty="0">
                <a:solidFill>
                  <a:srgbClr val="3E6B74"/>
                </a:solidFill>
                <a:latin typeface="Karla" pitchFamily="34" charset="0"/>
                <a:ea typeface="Karla" pitchFamily="34" charset="-122"/>
                <a:cs typeface="Karla" pitchFamily="34" charset="-120"/>
              </a:rPr>
              <a:t>Gotitas de grasa que envuelven el ADN: la misma tecnología de las vacunas de ARN. La piel se puede tratar por fuera, y eso lo cambia todo.</a:t>
            </a:r>
            <a:endParaRPr lang="en-US" sz="1250" dirty="0"/>
          </a:p>
        </p:txBody>
      </p:sp>
      <p:sp>
        <p:nvSpPr>
          <p:cNvPr id="30" name="Text 21"/>
          <p:cNvSpPr txBox="1"/>
          <p:nvPr/>
        </p:nvSpPr>
        <p:spPr>
          <a:xfrm>
            <a:off x="566928" y="5669280"/>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¿Dónde estamos ahora mismo?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Con toda la honestidad: esto es lo que ya está hecho, lo que está en marcha y lo que falta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4069080"/>
          </a:xfrm>
          <a:prstGeom prst="roundRect">
            <a:avLst>
              <a:gd name="adj" fmla="val 3117"/>
            </a:avLst>
          </a:prstGeom>
          <a:solidFill>
            <a:srgbClr val="EFF6F1"/>
          </a:solidFill>
          <a:ln w="19050">
            <a:solidFill>
              <a:srgbClr val="3C7A55"/>
            </a:solidFill>
            <a:prstDash val="solid"/>
          </a:ln>
        </p:spPr>
      </p:sp>
      <p:sp>
        <p:nvSpPr>
          <p:cNvPr id="8" name="Text 3"/>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9" name="Shape 4"/>
          <p:cNvSpPr/>
          <p:nvPr/>
        </p:nvSpPr>
        <p:spPr>
          <a:xfrm>
            <a:off x="896112" y="2660904"/>
            <a:ext cx="128016" cy="128016"/>
          </a:xfrm>
          <a:prstGeom prst="ellipse">
            <a:avLst/>
          </a:prstGeom>
          <a:solidFill>
            <a:srgbClr val="3C7A55"/>
          </a:solidFill>
          <a:ln w="12700">
            <a:solidFill>
              <a:srgbClr val="3C7A55"/>
            </a:solidFill>
            <a:prstDash val="solid"/>
          </a:ln>
        </p:spPr>
      </p:sp>
      <p:sp>
        <p:nvSpPr>
          <p:cNvPr id="10" name="Text 5"/>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1" name="Shape 6"/>
          <p:cNvSpPr/>
          <p:nvPr/>
        </p:nvSpPr>
        <p:spPr>
          <a:xfrm>
            <a:off x="896112" y="3438144"/>
            <a:ext cx="128016" cy="128016"/>
          </a:xfrm>
          <a:prstGeom prst="ellipse">
            <a:avLst/>
          </a:prstGeom>
          <a:solidFill>
            <a:srgbClr val="3C7A55"/>
          </a:solidFill>
          <a:ln w="12700">
            <a:solidFill>
              <a:srgbClr val="3C7A55"/>
            </a:solidFill>
            <a:prstDash val="solid"/>
          </a:ln>
        </p:spPr>
      </p:sp>
      <p:sp>
        <p:nvSpPr>
          <p:cNvPr id="12" name="Text 7"/>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3" name="Shape 8"/>
          <p:cNvSpPr/>
          <p:nvPr/>
        </p:nvSpPr>
        <p:spPr>
          <a:xfrm>
            <a:off x="896112" y="4215384"/>
            <a:ext cx="128016" cy="128016"/>
          </a:xfrm>
          <a:prstGeom prst="ellipse">
            <a:avLst/>
          </a:prstGeom>
          <a:solidFill>
            <a:srgbClr val="3C7A55"/>
          </a:solidFill>
          <a:ln w="12700">
            <a:solidFill>
              <a:srgbClr val="3C7A55"/>
            </a:solidFill>
            <a:prstDash val="solid"/>
          </a:ln>
        </p:spPr>
      </p:sp>
      <p:sp>
        <p:nvSpPr>
          <p:cNvPr id="14" name="Text 9"/>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5" name="Shape 10"/>
          <p:cNvSpPr/>
          <p:nvPr/>
        </p:nvSpPr>
        <p:spPr>
          <a:xfrm>
            <a:off x="896112" y="4992624"/>
            <a:ext cx="128016" cy="128016"/>
          </a:xfrm>
          <a:prstGeom prst="ellipse">
            <a:avLst/>
          </a:prstGeom>
          <a:solidFill>
            <a:srgbClr val="3C7A55"/>
          </a:solidFill>
          <a:ln w="12700">
            <a:solidFill>
              <a:srgbClr val="3C7A55"/>
            </a:solidFill>
            <a:prstDash val="solid"/>
          </a:ln>
        </p:spPr>
      </p:sp>
      <p:sp>
        <p:nvSpPr>
          <p:cNvPr id="16" name="Text 11"/>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7" name="Shape 12"/>
          <p:cNvSpPr/>
          <p:nvPr/>
        </p:nvSpPr>
        <p:spPr>
          <a:xfrm>
            <a:off x="4315968" y="1691640"/>
            <a:ext cx="3520440" cy="4069080"/>
          </a:xfrm>
          <a:prstGeom prst="roundRect">
            <a:avLst>
              <a:gd name="adj" fmla="val 3117"/>
            </a:avLst>
          </a:prstGeom>
          <a:solidFill>
            <a:srgbClr val="FBF2E6"/>
          </a:solidFill>
          <a:ln w="19050">
            <a:solidFill>
              <a:srgbClr val="D9A441"/>
            </a:solidFill>
            <a:prstDash val="solid"/>
          </a:ln>
        </p:spPr>
      </p:sp>
      <p:sp>
        <p:nvSpPr>
          <p:cNvPr id="18" name="Text 13"/>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19" name="Shape 14"/>
          <p:cNvSpPr/>
          <p:nvPr/>
        </p:nvSpPr>
        <p:spPr>
          <a:xfrm>
            <a:off x="4645152" y="2660904"/>
            <a:ext cx="128016" cy="128016"/>
          </a:xfrm>
          <a:prstGeom prst="ellipse">
            <a:avLst/>
          </a:prstGeom>
          <a:solidFill>
            <a:srgbClr val="D9A441"/>
          </a:solidFill>
          <a:ln w="12700">
            <a:solidFill>
              <a:srgbClr val="D9A441"/>
            </a:solidFill>
            <a:prstDash val="solid"/>
          </a:ln>
        </p:spPr>
      </p:sp>
      <p:sp>
        <p:nvSpPr>
          <p:cNvPr id="20" name="Text 15"/>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1" name="Shape 16"/>
          <p:cNvSpPr/>
          <p:nvPr/>
        </p:nvSpPr>
        <p:spPr>
          <a:xfrm>
            <a:off x="4645152" y="3438144"/>
            <a:ext cx="128016" cy="128016"/>
          </a:xfrm>
          <a:prstGeom prst="ellipse">
            <a:avLst/>
          </a:prstGeom>
          <a:solidFill>
            <a:srgbClr val="D9A441"/>
          </a:solidFill>
          <a:ln w="12700">
            <a:solidFill>
              <a:srgbClr val="D9A441"/>
            </a:solidFill>
            <a:prstDash val="solid"/>
          </a:ln>
        </p:spPr>
      </p:sp>
      <p:sp>
        <p:nvSpPr>
          <p:cNvPr id="22" name="Text 17"/>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3" name="Shape 18"/>
          <p:cNvSpPr/>
          <p:nvPr/>
        </p:nvSpPr>
        <p:spPr>
          <a:xfrm>
            <a:off x="4645152" y="4215384"/>
            <a:ext cx="128016" cy="128016"/>
          </a:xfrm>
          <a:prstGeom prst="ellipse">
            <a:avLst/>
          </a:prstGeom>
          <a:solidFill>
            <a:srgbClr val="D9A441"/>
          </a:solidFill>
          <a:ln w="12700">
            <a:solidFill>
              <a:srgbClr val="D9A441"/>
            </a:solidFill>
            <a:prstDash val="solid"/>
          </a:ln>
        </p:spPr>
      </p:sp>
      <p:sp>
        <p:nvSpPr>
          <p:cNvPr id="24" name="Text 19"/>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5" name="Shape 20"/>
          <p:cNvSpPr/>
          <p:nvPr/>
        </p:nvSpPr>
        <p:spPr>
          <a:xfrm>
            <a:off x="8065008" y="1691640"/>
            <a:ext cx="3520440" cy="4069080"/>
          </a:xfrm>
          <a:prstGeom prst="roundRect">
            <a:avLst>
              <a:gd name="adj" fmla="val 3117"/>
            </a:avLst>
          </a:prstGeom>
          <a:solidFill>
            <a:srgbClr val="EDF5F5"/>
          </a:solidFill>
          <a:ln w="19050">
            <a:solidFill>
              <a:srgbClr val="3E6B74"/>
            </a:solidFill>
            <a:prstDash val="solid"/>
          </a:ln>
        </p:spPr>
      </p:sp>
      <p:sp>
        <p:nvSpPr>
          <p:cNvPr id="26" name="Text 21"/>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7" name="Shape 22"/>
          <p:cNvSpPr/>
          <p:nvPr/>
        </p:nvSpPr>
        <p:spPr>
          <a:xfrm>
            <a:off x="8394192" y="2660904"/>
            <a:ext cx="128016" cy="128016"/>
          </a:xfrm>
          <a:prstGeom prst="ellipse">
            <a:avLst/>
          </a:prstGeom>
          <a:solidFill>
            <a:srgbClr val="3E6B74"/>
          </a:solidFill>
          <a:ln w="12700">
            <a:solidFill>
              <a:srgbClr val="3E6B74"/>
            </a:solidFill>
            <a:prstDash val="solid"/>
          </a:ln>
        </p:spPr>
      </p:sp>
      <p:sp>
        <p:nvSpPr>
          <p:cNvPr id="28" name="Text 23"/>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29" name="Shape 24"/>
          <p:cNvSpPr/>
          <p:nvPr/>
        </p:nvSpPr>
        <p:spPr>
          <a:xfrm>
            <a:off x="8394192" y="3438144"/>
            <a:ext cx="128016" cy="128016"/>
          </a:xfrm>
          <a:prstGeom prst="ellipse">
            <a:avLst/>
          </a:prstGeom>
          <a:solidFill>
            <a:srgbClr val="3E6B74"/>
          </a:solidFill>
          <a:ln w="12700">
            <a:solidFill>
              <a:srgbClr val="3E6B74"/>
            </a:solidFill>
            <a:prstDash val="solid"/>
          </a:ln>
        </p:spPr>
      </p:sp>
      <p:sp>
        <p:nvSpPr>
          <p:cNvPr id="30" name="Text 25"/>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1" name="Shape 26"/>
          <p:cNvSpPr/>
          <p:nvPr/>
        </p:nvSpPr>
        <p:spPr>
          <a:xfrm>
            <a:off x="8394192" y="4215384"/>
            <a:ext cx="128016" cy="128016"/>
          </a:xfrm>
          <a:prstGeom prst="ellipse">
            <a:avLst/>
          </a:prstGeom>
          <a:solidFill>
            <a:srgbClr val="3E6B74"/>
          </a:solidFill>
          <a:ln w="12700">
            <a:solidFill>
              <a:srgbClr val="3E6B74"/>
            </a:solidFill>
            <a:prstDash val="solid"/>
          </a:ln>
        </p:spPr>
      </p:sp>
      <p:sp>
        <p:nvSpPr>
          <p:cNvPr id="32" name="Text 27"/>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3" name="Text 28"/>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Cuatro ideas para llevarse a casa</a:t>
            </a:r>
            <a:endParaRPr lang="en-US" sz="30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Shape 1"/>
          <p:cNvSpPr/>
          <p:nvPr/>
        </p:nvSpPr>
        <p:spPr>
          <a:xfrm>
            <a:off x="566928" y="1417320"/>
            <a:ext cx="5257800" cy="1965960"/>
          </a:xfrm>
          <a:prstGeom prst="roundRect">
            <a:avLst>
              <a:gd name="adj" fmla="val 5581"/>
            </a:avLst>
          </a:prstGeom>
          <a:solidFill>
            <a:srgbClr val="FFFFFF"/>
          </a:solidFill>
          <a:ln w="15875">
            <a:solidFill>
              <a:srgbClr val="E4EAEA"/>
            </a:solidFill>
            <a:prstDash val="solid"/>
          </a:ln>
        </p:spPr>
      </p:sp>
      <p:sp>
        <p:nvSpPr>
          <p:cNvPr id="7" name="Shape 2"/>
          <p:cNvSpPr/>
          <p:nvPr/>
        </p:nvSpPr>
        <p:spPr>
          <a:xfrm>
            <a:off x="877824" y="1737360"/>
            <a:ext cx="420624" cy="420624"/>
          </a:xfrm>
          <a:prstGeom prst="ellipse">
            <a:avLst/>
          </a:prstGeom>
          <a:solidFill>
            <a:srgbClr val="B25650"/>
          </a:solidFill>
          <a:ln w="12700">
            <a:solidFill>
              <a:srgbClr val="B25650"/>
            </a:solidFill>
            <a:prstDash val="solid"/>
          </a:ln>
        </p:spPr>
      </p:sp>
      <p:sp>
        <p:nvSpPr>
          <p:cNvPr id="8" name="Text 3"/>
          <p:cNvSpPr txBox="1"/>
          <p:nvPr/>
        </p:nvSpPr>
        <p:spPr>
          <a:xfrm>
            <a:off x="87782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9" name="Text 4"/>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10" name="Text 5"/>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1" name="Shape 6"/>
          <p:cNvSpPr/>
          <p:nvPr/>
        </p:nvSpPr>
        <p:spPr>
          <a:xfrm>
            <a:off x="6190488" y="1417320"/>
            <a:ext cx="5257800" cy="1965960"/>
          </a:xfrm>
          <a:prstGeom prst="roundRect">
            <a:avLst>
              <a:gd name="adj" fmla="val 5581"/>
            </a:avLst>
          </a:prstGeom>
          <a:solidFill>
            <a:srgbClr val="FFFFFF"/>
          </a:solidFill>
          <a:ln w="15875">
            <a:solidFill>
              <a:srgbClr val="E4EAEA"/>
            </a:solidFill>
            <a:prstDash val="solid"/>
          </a:ln>
        </p:spPr>
      </p:sp>
      <p:sp>
        <p:nvSpPr>
          <p:cNvPr id="12" name="Shape 7"/>
          <p:cNvSpPr/>
          <p:nvPr/>
        </p:nvSpPr>
        <p:spPr>
          <a:xfrm>
            <a:off x="6501384" y="1737360"/>
            <a:ext cx="420624" cy="420624"/>
          </a:xfrm>
          <a:prstGeom prst="ellipse">
            <a:avLst/>
          </a:prstGeom>
          <a:solidFill>
            <a:srgbClr val="D9A441"/>
          </a:solidFill>
          <a:ln w="12700">
            <a:solidFill>
              <a:srgbClr val="D9A441"/>
            </a:solidFill>
            <a:prstDash val="solid"/>
          </a:ln>
        </p:spPr>
      </p:sp>
      <p:sp>
        <p:nvSpPr>
          <p:cNvPr id="13" name="Text 8"/>
          <p:cNvSpPr txBox="1"/>
          <p:nvPr/>
        </p:nvSpPr>
        <p:spPr>
          <a:xfrm>
            <a:off x="650138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4" name="Text 9"/>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5" name="Text 10"/>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6" name="Shape 11"/>
          <p:cNvSpPr/>
          <p:nvPr/>
        </p:nvSpPr>
        <p:spPr>
          <a:xfrm>
            <a:off x="566928" y="3657600"/>
            <a:ext cx="5257800" cy="1965960"/>
          </a:xfrm>
          <a:prstGeom prst="roundRect">
            <a:avLst>
              <a:gd name="adj" fmla="val 5581"/>
            </a:avLst>
          </a:prstGeom>
          <a:solidFill>
            <a:srgbClr val="FFFFFF"/>
          </a:solidFill>
          <a:ln w="15875">
            <a:solidFill>
              <a:srgbClr val="E4EAEA"/>
            </a:solidFill>
            <a:prstDash val="solid"/>
          </a:ln>
        </p:spPr>
      </p:sp>
      <p:sp>
        <p:nvSpPr>
          <p:cNvPr id="17" name="Shape 12"/>
          <p:cNvSpPr/>
          <p:nvPr/>
        </p:nvSpPr>
        <p:spPr>
          <a:xfrm>
            <a:off x="877824" y="3977640"/>
            <a:ext cx="420624" cy="420624"/>
          </a:xfrm>
          <a:prstGeom prst="ellipse">
            <a:avLst/>
          </a:prstGeom>
          <a:solidFill>
            <a:srgbClr val="385492"/>
          </a:solidFill>
          <a:ln w="12700">
            <a:solidFill>
              <a:srgbClr val="385492"/>
            </a:solidFill>
            <a:prstDash val="solid"/>
          </a:ln>
        </p:spPr>
      </p:sp>
      <p:sp>
        <p:nvSpPr>
          <p:cNvPr id="18" name="Text 13"/>
          <p:cNvSpPr txBox="1"/>
          <p:nvPr/>
        </p:nvSpPr>
        <p:spPr>
          <a:xfrm>
            <a:off x="87782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9" name="Text 14"/>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20" name="Text 15"/>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21" name="Shape 16"/>
          <p:cNvSpPr/>
          <p:nvPr/>
        </p:nvSpPr>
        <p:spPr>
          <a:xfrm>
            <a:off x="6190488" y="3657600"/>
            <a:ext cx="5257800" cy="1965960"/>
          </a:xfrm>
          <a:prstGeom prst="roundRect">
            <a:avLst>
              <a:gd name="adj" fmla="val 5581"/>
            </a:avLst>
          </a:prstGeom>
          <a:solidFill>
            <a:srgbClr val="FFFFFF"/>
          </a:solidFill>
          <a:ln w="15875">
            <a:solidFill>
              <a:srgbClr val="E4EAEA"/>
            </a:solidFill>
            <a:prstDash val="solid"/>
          </a:ln>
        </p:spPr>
      </p:sp>
      <p:sp>
        <p:nvSpPr>
          <p:cNvPr id="22" name="Shape 17"/>
          <p:cNvSpPr/>
          <p:nvPr/>
        </p:nvSpPr>
        <p:spPr>
          <a:xfrm>
            <a:off x="6501384" y="3977640"/>
            <a:ext cx="420624" cy="420624"/>
          </a:xfrm>
          <a:prstGeom prst="ellipse">
            <a:avLst/>
          </a:prstGeom>
          <a:solidFill>
            <a:srgbClr val="3C7A55"/>
          </a:solidFill>
          <a:ln w="12700">
            <a:solidFill>
              <a:srgbClr val="3C7A55"/>
            </a:solidFill>
            <a:prstDash val="solid"/>
          </a:ln>
        </p:spPr>
      </p:sp>
      <p:sp>
        <p:nvSpPr>
          <p:cNvPr id="23" name="Text 18"/>
          <p:cNvSpPr txBox="1"/>
          <p:nvPr/>
        </p:nvSpPr>
        <p:spPr>
          <a:xfrm>
            <a:off x="650138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4</a:t>
            </a:r>
            <a:endParaRPr lang="en-US" sz="1600" dirty="0"/>
          </a:p>
        </p:txBody>
      </p:sp>
      <p:sp>
        <p:nvSpPr>
          <p:cNvPr id="24" name="Text 19"/>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25" name="Text 20"/>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 (20 min)</dc:title>
  <dc:subject>PptxGenJS Presentation</dc:subject>
  <dc:creator>María Zubieta Laseca</dc:creator>
  <cp:lastModifiedBy>María Zubieta Laseca</cp:lastModifiedBy>
  <cp:revision>1</cp:revision>
  <dcterms:created xsi:type="dcterms:W3CDTF">2026-09-29T11:47:18Z</dcterms:created>
  <dcterms:modified xsi:type="dcterms:W3CDTF">2026-09-29T11:47:18Z</dcterms:modified>
</cp:coreProperties>
</file>